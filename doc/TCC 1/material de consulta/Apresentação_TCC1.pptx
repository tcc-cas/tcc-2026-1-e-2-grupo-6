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84" r:id="rId3"/>
    <p:sldId id="273" r:id="rId4"/>
    <p:sldId id="272" r:id="rId5"/>
    <p:sldId id="279" r:id="rId6"/>
    <p:sldId id="285" r:id="rId7"/>
    <p:sldId id="289" r:id="rId8"/>
    <p:sldId id="286" r:id="rId9"/>
    <p:sldId id="271" r:id="rId10"/>
    <p:sldId id="280" r:id="rId11"/>
    <p:sldId id="281" r:id="rId12"/>
    <p:sldId id="277" r:id="rId13"/>
    <p:sldId id="278" r:id="rId14"/>
    <p:sldId id="282" r:id="rId15"/>
    <p:sldId id="276" r:id="rId16"/>
    <p:sldId id="283" r:id="rId17"/>
    <p:sldId id="288" r:id="rId18"/>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413FCA-23FF-4147-9FA3-F43924F1270C}" v="1" dt="2026-02-13T22:26:34.0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1" d="100"/>
          <a:sy n="111" d="100"/>
        </p:scale>
        <p:origin x="534" y="96"/>
      </p:cViewPr>
      <p:guideLst/>
    </p:cSldViewPr>
  </p:slideViewPr>
  <p:notesTextViewPr>
    <p:cViewPr>
      <p:scale>
        <a:sx n="1" d="1"/>
        <a:sy n="1" d="1"/>
      </p:scale>
      <p:origin x="0" y="0"/>
    </p:cViewPr>
  </p:notesTextViewPr>
  <p:sorterViewPr>
    <p:cViewPr>
      <p:scale>
        <a:sx n="100" d="100"/>
        <a:sy n="100" d="100"/>
      </p:scale>
      <p:origin x="0" y="-102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E MARTINELE ALVES SILVA" userId="0858ee3a-6642-432f-9a86-d3c33c4dc7e2" providerId="ADAL" clId="{2CEFA4A2-2D6A-4047-A950-D026E1D9794D}"/>
    <pc:docChg chg="modSld">
      <pc:chgData name="JOSE MARTINELE ALVES SILVA" userId="0858ee3a-6642-432f-9a86-d3c33c4dc7e2" providerId="ADAL" clId="{2CEFA4A2-2D6A-4047-A950-D026E1D9794D}" dt="2026-02-04T23:32:17.827" v="1" actId="20577"/>
      <pc:docMkLst>
        <pc:docMk/>
      </pc:docMkLst>
      <pc:sldChg chg="modSp mod">
        <pc:chgData name="JOSE MARTINELE ALVES SILVA" userId="0858ee3a-6642-432f-9a86-d3c33c4dc7e2" providerId="ADAL" clId="{2CEFA4A2-2D6A-4047-A950-D026E1D9794D}" dt="2026-02-04T23:32:17.827" v="1" actId="20577"/>
        <pc:sldMkLst>
          <pc:docMk/>
          <pc:sldMk cId="2056314723" sldId="280"/>
        </pc:sldMkLst>
        <pc:spChg chg="mod">
          <ac:chgData name="JOSE MARTINELE ALVES SILVA" userId="0858ee3a-6642-432f-9a86-d3c33c4dc7e2" providerId="ADAL" clId="{2CEFA4A2-2D6A-4047-A950-D026E1D9794D}" dt="2026-02-04T23:32:17.827" v="1" actId="20577"/>
          <ac:spMkLst>
            <pc:docMk/>
            <pc:sldMk cId="2056314723" sldId="280"/>
            <ac:spMk id="3" creationId="{E619E270-34D0-4C84-8AF9-2E7D7342E408}"/>
          </ac:spMkLst>
        </pc:spChg>
      </pc:sldChg>
    </pc:docChg>
  </pc:docChgLst>
  <pc:docChgLst>
    <pc:chgData name="JOSE MARTINELE ALVES SILVA" userId="0858ee3a-6642-432f-9a86-d3c33c4dc7e2" providerId="ADAL" clId="{3EC08008-84A7-42B0-9AC1-EDE845ECAEF2}"/>
    <pc:docChg chg="modSld">
      <pc:chgData name="JOSE MARTINELE ALVES SILVA" userId="0858ee3a-6642-432f-9a86-d3c33c4dc7e2" providerId="ADAL" clId="{3EC08008-84A7-42B0-9AC1-EDE845ECAEF2}" dt="2026-02-13T22:26:53.380" v="5" actId="207"/>
      <pc:docMkLst>
        <pc:docMk/>
      </pc:docMkLst>
      <pc:sldChg chg="modSp mod">
        <pc:chgData name="JOSE MARTINELE ALVES SILVA" userId="0858ee3a-6642-432f-9a86-d3c33c4dc7e2" providerId="ADAL" clId="{3EC08008-84A7-42B0-9AC1-EDE845ECAEF2}" dt="2026-02-13T22:26:53.380" v="5" actId="207"/>
        <pc:sldMkLst>
          <pc:docMk/>
          <pc:sldMk cId="1865361779" sldId="289"/>
        </pc:sldMkLst>
        <pc:spChg chg="mod">
          <ac:chgData name="JOSE MARTINELE ALVES SILVA" userId="0858ee3a-6642-432f-9a86-d3c33c4dc7e2" providerId="ADAL" clId="{3EC08008-84A7-42B0-9AC1-EDE845ECAEF2}" dt="2026-02-13T22:26:53.380" v="5" actId="207"/>
          <ac:spMkLst>
            <pc:docMk/>
            <pc:sldMk cId="1865361779" sldId="289"/>
            <ac:spMk id="3" creationId="{EF57C6AE-F7C1-BAF1-F183-3161E8A905F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A6DE74-2B2D-4746-A359-294B1EEF26CD}"/>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C428FD81-8FF7-43FC-8C8B-D4DE0D3ABD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701009B0-89B0-443F-A99B-26429CCD5E66}"/>
              </a:ext>
            </a:extLst>
          </p:cNvPr>
          <p:cNvSpPr>
            <a:spLocks noGrp="1"/>
          </p:cNvSpPr>
          <p:nvPr>
            <p:ph type="dt" sz="half" idx="10"/>
          </p:nvPr>
        </p:nvSpPr>
        <p:spPr/>
        <p:txBody>
          <a:bodyPr/>
          <a:lstStyle/>
          <a:p>
            <a:fld id="{9D860650-ED15-4AAD-8C1F-C0F1BF264A9B}" type="datetimeFigureOut">
              <a:rPr lang="pt-BR" smtClean="0"/>
              <a:t>13/02/2026</a:t>
            </a:fld>
            <a:endParaRPr lang="pt-BR"/>
          </a:p>
        </p:txBody>
      </p:sp>
      <p:sp>
        <p:nvSpPr>
          <p:cNvPr id="5" name="Espaço Reservado para Rodapé 4">
            <a:extLst>
              <a:ext uri="{FF2B5EF4-FFF2-40B4-BE49-F238E27FC236}">
                <a16:creationId xmlns:a16="http://schemas.microsoft.com/office/drawing/2014/main" id="{F7F148CD-9AB9-473C-8E44-09164EBD54E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D3970E66-81C6-410A-B879-B3BF3E3845C9}"/>
              </a:ext>
            </a:extLst>
          </p:cNvPr>
          <p:cNvSpPr>
            <a:spLocks noGrp="1"/>
          </p:cNvSpPr>
          <p:nvPr>
            <p:ph type="sldNum" sz="quarter" idx="12"/>
          </p:nvPr>
        </p:nvSpPr>
        <p:spPr/>
        <p:txBody>
          <a:bodyPr/>
          <a:lstStyle/>
          <a:p>
            <a:fld id="{44162620-E065-44E0-8994-752CAA663E9A}" type="slidenum">
              <a:rPr lang="pt-BR" smtClean="0"/>
              <a:t>‹nº›</a:t>
            </a:fld>
            <a:endParaRPr lang="pt-BR"/>
          </a:p>
        </p:txBody>
      </p:sp>
    </p:spTree>
    <p:extLst>
      <p:ext uri="{BB962C8B-B14F-4D97-AF65-F5344CB8AC3E}">
        <p14:creationId xmlns:p14="http://schemas.microsoft.com/office/powerpoint/2010/main" val="1133536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155DBF-34BD-4880-8A22-6F50C80F8A9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E7DF5274-73A0-4BDE-93D1-53C0C2599AE4}"/>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98B0516-5340-4F40-B292-E266C458833B}"/>
              </a:ext>
            </a:extLst>
          </p:cNvPr>
          <p:cNvSpPr>
            <a:spLocks noGrp="1"/>
          </p:cNvSpPr>
          <p:nvPr>
            <p:ph type="dt" sz="half" idx="10"/>
          </p:nvPr>
        </p:nvSpPr>
        <p:spPr/>
        <p:txBody>
          <a:bodyPr/>
          <a:lstStyle/>
          <a:p>
            <a:fld id="{9D860650-ED15-4AAD-8C1F-C0F1BF264A9B}" type="datetimeFigureOut">
              <a:rPr lang="pt-BR" smtClean="0"/>
              <a:t>13/02/2026</a:t>
            </a:fld>
            <a:endParaRPr lang="pt-BR"/>
          </a:p>
        </p:txBody>
      </p:sp>
      <p:sp>
        <p:nvSpPr>
          <p:cNvPr id="5" name="Espaço Reservado para Rodapé 4">
            <a:extLst>
              <a:ext uri="{FF2B5EF4-FFF2-40B4-BE49-F238E27FC236}">
                <a16:creationId xmlns:a16="http://schemas.microsoft.com/office/drawing/2014/main" id="{BF091494-D0EA-4B2B-8274-DCB7E622A594}"/>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994E623E-6375-4F89-843B-18108B117640}"/>
              </a:ext>
            </a:extLst>
          </p:cNvPr>
          <p:cNvSpPr>
            <a:spLocks noGrp="1"/>
          </p:cNvSpPr>
          <p:nvPr>
            <p:ph type="sldNum" sz="quarter" idx="12"/>
          </p:nvPr>
        </p:nvSpPr>
        <p:spPr/>
        <p:txBody>
          <a:bodyPr/>
          <a:lstStyle/>
          <a:p>
            <a:fld id="{44162620-E065-44E0-8994-752CAA663E9A}" type="slidenum">
              <a:rPr lang="pt-BR" smtClean="0"/>
              <a:t>‹nº›</a:t>
            </a:fld>
            <a:endParaRPr lang="pt-BR"/>
          </a:p>
        </p:txBody>
      </p:sp>
    </p:spTree>
    <p:extLst>
      <p:ext uri="{BB962C8B-B14F-4D97-AF65-F5344CB8AC3E}">
        <p14:creationId xmlns:p14="http://schemas.microsoft.com/office/powerpoint/2010/main" val="3233113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E45F89-D08D-4AAF-98E9-7172CF00A2B0}"/>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67E53612-40AA-40E9-AE8D-9FB1AE83A2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9CAF1AC1-15CE-48C7-ADEA-AC75E6A40AE1}"/>
              </a:ext>
            </a:extLst>
          </p:cNvPr>
          <p:cNvSpPr>
            <a:spLocks noGrp="1"/>
          </p:cNvSpPr>
          <p:nvPr>
            <p:ph type="dt" sz="half" idx="10"/>
          </p:nvPr>
        </p:nvSpPr>
        <p:spPr/>
        <p:txBody>
          <a:bodyPr/>
          <a:lstStyle/>
          <a:p>
            <a:fld id="{9D860650-ED15-4AAD-8C1F-C0F1BF264A9B}" type="datetimeFigureOut">
              <a:rPr lang="pt-BR" smtClean="0"/>
              <a:t>13/02/2026</a:t>
            </a:fld>
            <a:endParaRPr lang="pt-BR"/>
          </a:p>
        </p:txBody>
      </p:sp>
      <p:sp>
        <p:nvSpPr>
          <p:cNvPr id="5" name="Espaço Reservado para Rodapé 4">
            <a:extLst>
              <a:ext uri="{FF2B5EF4-FFF2-40B4-BE49-F238E27FC236}">
                <a16:creationId xmlns:a16="http://schemas.microsoft.com/office/drawing/2014/main" id="{FD027743-91AF-48EF-A282-877C822878B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C462C84-7470-435F-A2FC-DA8D130F58D8}"/>
              </a:ext>
            </a:extLst>
          </p:cNvPr>
          <p:cNvSpPr>
            <a:spLocks noGrp="1"/>
          </p:cNvSpPr>
          <p:nvPr>
            <p:ph type="sldNum" sz="quarter" idx="12"/>
          </p:nvPr>
        </p:nvSpPr>
        <p:spPr/>
        <p:txBody>
          <a:bodyPr/>
          <a:lstStyle/>
          <a:p>
            <a:fld id="{44162620-E065-44E0-8994-752CAA663E9A}" type="slidenum">
              <a:rPr lang="pt-BR" smtClean="0"/>
              <a:t>‹nº›</a:t>
            </a:fld>
            <a:endParaRPr lang="pt-BR"/>
          </a:p>
        </p:txBody>
      </p:sp>
    </p:spTree>
    <p:extLst>
      <p:ext uri="{BB962C8B-B14F-4D97-AF65-F5344CB8AC3E}">
        <p14:creationId xmlns:p14="http://schemas.microsoft.com/office/powerpoint/2010/main" val="2436915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7066D1-827C-4D7A-9326-AC90264C6D94}"/>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3CF6E3BD-F363-4D0A-9A9E-599E92781CF3}"/>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6B2D9DA2-912A-4785-BEDD-445378A49FA4}"/>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6C46B20A-BF0E-4FF1-99AE-CB5D43D4E7B6}"/>
              </a:ext>
            </a:extLst>
          </p:cNvPr>
          <p:cNvSpPr>
            <a:spLocks noGrp="1"/>
          </p:cNvSpPr>
          <p:nvPr>
            <p:ph type="dt" sz="half" idx="10"/>
          </p:nvPr>
        </p:nvSpPr>
        <p:spPr/>
        <p:txBody>
          <a:bodyPr/>
          <a:lstStyle/>
          <a:p>
            <a:fld id="{9D860650-ED15-4AAD-8C1F-C0F1BF264A9B}" type="datetimeFigureOut">
              <a:rPr lang="pt-BR" smtClean="0"/>
              <a:t>13/02/2026</a:t>
            </a:fld>
            <a:endParaRPr lang="pt-BR"/>
          </a:p>
        </p:txBody>
      </p:sp>
      <p:sp>
        <p:nvSpPr>
          <p:cNvPr id="6" name="Espaço Reservado para Rodapé 5">
            <a:extLst>
              <a:ext uri="{FF2B5EF4-FFF2-40B4-BE49-F238E27FC236}">
                <a16:creationId xmlns:a16="http://schemas.microsoft.com/office/drawing/2014/main" id="{C8DE9045-64AC-44CC-A254-4024D4BAEAB0}"/>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4E393A31-A9BB-418E-8F91-40C7B6E9B01B}"/>
              </a:ext>
            </a:extLst>
          </p:cNvPr>
          <p:cNvSpPr>
            <a:spLocks noGrp="1"/>
          </p:cNvSpPr>
          <p:nvPr>
            <p:ph type="sldNum" sz="quarter" idx="12"/>
          </p:nvPr>
        </p:nvSpPr>
        <p:spPr/>
        <p:txBody>
          <a:bodyPr/>
          <a:lstStyle/>
          <a:p>
            <a:fld id="{44162620-E065-44E0-8994-752CAA663E9A}" type="slidenum">
              <a:rPr lang="pt-BR" smtClean="0"/>
              <a:t>‹nº›</a:t>
            </a:fld>
            <a:endParaRPr lang="pt-BR"/>
          </a:p>
        </p:txBody>
      </p:sp>
    </p:spTree>
    <p:extLst>
      <p:ext uri="{BB962C8B-B14F-4D97-AF65-F5344CB8AC3E}">
        <p14:creationId xmlns:p14="http://schemas.microsoft.com/office/powerpoint/2010/main" val="1725314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8B0E52-9652-4C94-97BC-0E15A0524193}"/>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A5D701A5-FD09-449E-9591-681A5E9533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5EBA1C9C-1B5B-4CD5-B24B-CEDE96A0AF88}"/>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C8BEC0B9-CC5B-4A9B-BC67-08DFD863D3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35F388B5-353A-4A2C-8355-3F4DB2F26D92}"/>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CD1F0575-FB9B-4829-B59C-3FC236C40448}"/>
              </a:ext>
            </a:extLst>
          </p:cNvPr>
          <p:cNvSpPr>
            <a:spLocks noGrp="1"/>
          </p:cNvSpPr>
          <p:nvPr>
            <p:ph type="dt" sz="half" idx="10"/>
          </p:nvPr>
        </p:nvSpPr>
        <p:spPr/>
        <p:txBody>
          <a:bodyPr/>
          <a:lstStyle/>
          <a:p>
            <a:fld id="{9D860650-ED15-4AAD-8C1F-C0F1BF264A9B}" type="datetimeFigureOut">
              <a:rPr lang="pt-BR" smtClean="0"/>
              <a:t>13/02/2026</a:t>
            </a:fld>
            <a:endParaRPr lang="pt-BR"/>
          </a:p>
        </p:txBody>
      </p:sp>
      <p:sp>
        <p:nvSpPr>
          <p:cNvPr id="8" name="Espaço Reservado para Rodapé 7">
            <a:extLst>
              <a:ext uri="{FF2B5EF4-FFF2-40B4-BE49-F238E27FC236}">
                <a16:creationId xmlns:a16="http://schemas.microsoft.com/office/drawing/2014/main" id="{F94A8B92-AF21-4AC7-AD24-CB8B685C402C}"/>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DAEA9C2B-1B9C-408B-B31E-F499860BC904}"/>
              </a:ext>
            </a:extLst>
          </p:cNvPr>
          <p:cNvSpPr>
            <a:spLocks noGrp="1"/>
          </p:cNvSpPr>
          <p:nvPr>
            <p:ph type="sldNum" sz="quarter" idx="12"/>
          </p:nvPr>
        </p:nvSpPr>
        <p:spPr/>
        <p:txBody>
          <a:bodyPr/>
          <a:lstStyle/>
          <a:p>
            <a:fld id="{44162620-E065-44E0-8994-752CAA663E9A}" type="slidenum">
              <a:rPr lang="pt-BR" smtClean="0"/>
              <a:t>‹nº›</a:t>
            </a:fld>
            <a:endParaRPr lang="pt-BR"/>
          </a:p>
        </p:txBody>
      </p:sp>
    </p:spTree>
    <p:extLst>
      <p:ext uri="{BB962C8B-B14F-4D97-AF65-F5344CB8AC3E}">
        <p14:creationId xmlns:p14="http://schemas.microsoft.com/office/powerpoint/2010/main" val="3505045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3EA303-E8D2-4BB5-9BCF-DCD1FF11275E}"/>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92A2F5A8-73CB-4197-9E95-E7A43DAC4BC8}"/>
              </a:ext>
            </a:extLst>
          </p:cNvPr>
          <p:cNvSpPr>
            <a:spLocks noGrp="1"/>
          </p:cNvSpPr>
          <p:nvPr>
            <p:ph type="dt" sz="half" idx="10"/>
          </p:nvPr>
        </p:nvSpPr>
        <p:spPr/>
        <p:txBody>
          <a:bodyPr/>
          <a:lstStyle/>
          <a:p>
            <a:fld id="{9D860650-ED15-4AAD-8C1F-C0F1BF264A9B}" type="datetimeFigureOut">
              <a:rPr lang="pt-BR" smtClean="0"/>
              <a:t>13/02/2026</a:t>
            </a:fld>
            <a:endParaRPr lang="pt-BR"/>
          </a:p>
        </p:txBody>
      </p:sp>
      <p:sp>
        <p:nvSpPr>
          <p:cNvPr id="4" name="Espaço Reservado para Rodapé 3">
            <a:extLst>
              <a:ext uri="{FF2B5EF4-FFF2-40B4-BE49-F238E27FC236}">
                <a16:creationId xmlns:a16="http://schemas.microsoft.com/office/drawing/2014/main" id="{E0373DD9-B65B-4836-9F67-E005C2FFFAEF}"/>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2A5DB545-6560-4D10-9154-1A4136C4CE00}"/>
              </a:ext>
            </a:extLst>
          </p:cNvPr>
          <p:cNvSpPr>
            <a:spLocks noGrp="1"/>
          </p:cNvSpPr>
          <p:nvPr>
            <p:ph type="sldNum" sz="quarter" idx="12"/>
          </p:nvPr>
        </p:nvSpPr>
        <p:spPr/>
        <p:txBody>
          <a:bodyPr/>
          <a:lstStyle/>
          <a:p>
            <a:fld id="{44162620-E065-44E0-8994-752CAA663E9A}" type="slidenum">
              <a:rPr lang="pt-BR" smtClean="0"/>
              <a:t>‹nº›</a:t>
            </a:fld>
            <a:endParaRPr lang="pt-BR"/>
          </a:p>
        </p:txBody>
      </p:sp>
    </p:spTree>
    <p:extLst>
      <p:ext uri="{BB962C8B-B14F-4D97-AF65-F5344CB8AC3E}">
        <p14:creationId xmlns:p14="http://schemas.microsoft.com/office/powerpoint/2010/main" val="1474964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BE84711C-3B36-49BA-8B06-0A2F28014656}"/>
              </a:ext>
            </a:extLst>
          </p:cNvPr>
          <p:cNvSpPr>
            <a:spLocks noGrp="1"/>
          </p:cNvSpPr>
          <p:nvPr>
            <p:ph type="dt" sz="half" idx="10"/>
          </p:nvPr>
        </p:nvSpPr>
        <p:spPr/>
        <p:txBody>
          <a:bodyPr/>
          <a:lstStyle/>
          <a:p>
            <a:fld id="{9D860650-ED15-4AAD-8C1F-C0F1BF264A9B}" type="datetimeFigureOut">
              <a:rPr lang="pt-BR" smtClean="0"/>
              <a:t>13/02/2026</a:t>
            </a:fld>
            <a:endParaRPr lang="pt-BR"/>
          </a:p>
        </p:txBody>
      </p:sp>
      <p:sp>
        <p:nvSpPr>
          <p:cNvPr id="3" name="Espaço Reservado para Rodapé 2">
            <a:extLst>
              <a:ext uri="{FF2B5EF4-FFF2-40B4-BE49-F238E27FC236}">
                <a16:creationId xmlns:a16="http://schemas.microsoft.com/office/drawing/2014/main" id="{09B8F011-0E56-482E-A35B-3C026BC1D2DC}"/>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C7539A34-7FEE-43AD-B2D5-A59DCE6DFBC8}"/>
              </a:ext>
            </a:extLst>
          </p:cNvPr>
          <p:cNvSpPr>
            <a:spLocks noGrp="1"/>
          </p:cNvSpPr>
          <p:nvPr>
            <p:ph type="sldNum" sz="quarter" idx="12"/>
          </p:nvPr>
        </p:nvSpPr>
        <p:spPr/>
        <p:txBody>
          <a:bodyPr/>
          <a:lstStyle/>
          <a:p>
            <a:fld id="{44162620-E065-44E0-8994-752CAA663E9A}" type="slidenum">
              <a:rPr lang="pt-BR" smtClean="0"/>
              <a:t>‹nº›</a:t>
            </a:fld>
            <a:endParaRPr lang="pt-BR"/>
          </a:p>
        </p:txBody>
      </p:sp>
    </p:spTree>
    <p:extLst>
      <p:ext uri="{BB962C8B-B14F-4D97-AF65-F5344CB8AC3E}">
        <p14:creationId xmlns:p14="http://schemas.microsoft.com/office/powerpoint/2010/main" val="1243133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F2371E-56F3-4214-8C5F-8717BCF2D5F8}"/>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F69C9E64-4F81-44E7-A9ED-F698B1A5B2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0322C621-81ED-436E-AAB4-5FB64AA26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DFAD8771-8035-4A72-9DF8-D7E59777E8E3}"/>
              </a:ext>
            </a:extLst>
          </p:cNvPr>
          <p:cNvSpPr>
            <a:spLocks noGrp="1"/>
          </p:cNvSpPr>
          <p:nvPr>
            <p:ph type="dt" sz="half" idx="10"/>
          </p:nvPr>
        </p:nvSpPr>
        <p:spPr/>
        <p:txBody>
          <a:bodyPr/>
          <a:lstStyle/>
          <a:p>
            <a:fld id="{9D860650-ED15-4AAD-8C1F-C0F1BF264A9B}" type="datetimeFigureOut">
              <a:rPr lang="pt-BR" smtClean="0"/>
              <a:t>13/02/2026</a:t>
            </a:fld>
            <a:endParaRPr lang="pt-BR"/>
          </a:p>
        </p:txBody>
      </p:sp>
      <p:sp>
        <p:nvSpPr>
          <p:cNvPr id="6" name="Espaço Reservado para Rodapé 5">
            <a:extLst>
              <a:ext uri="{FF2B5EF4-FFF2-40B4-BE49-F238E27FC236}">
                <a16:creationId xmlns:a16="http://schemas.microsoft.com/office/drawing/2014/main" id="{AE3EE6FD-AA05-4939-B9F0-F647636A7824}"/>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28228688-6A4D-4656-9D1F-65826D4297EE}"/>
              </a:ext>
            </a:extLst>
          </p:cNvPr>
          <p:cNvSpPr>
            <a:spLocks noGrp="1"/>
          </p:cNvSpPr>
          <p:nvPr>
            <p:ph type="sldNum" sz="quarter" idx="12"/>
          </p:nvPr>
        </p:nvSpPr>
        <p:spPr/>
        <p:txBody>
          <a:bodyPr/>
          <a:lstStyle/>
          <a:p>
            <a:fld id="{44162620-E065-44E0-8994-752CAA663E9A}" type="slidenum">
              <a:rPr lang="pt-BR" smtClean="0"/>
              <a:t>‹nº›</a:t>
            </a:fld>
            <a:endParaRPr lang="pt-BR"/>
          </a:p>
        </p:txBody>
      </p:sp>
    </p:spTree>
    <p:extLst>
      <p:ext uri="{BB962C8B-B14F-4D97-AF65-F5344CB8AC3E}">
        <p14:creationId xmlns:p14="http://schemas.microsoft.com/office/powerpoint/2010/main" val="2563029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7F3F85-8A3D-46B8-9D53-2E1F5ACA556B}"/>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B6FD7051-DA01-417E-AF00-253A42014F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0F42DC3E-37F0-4A7D-96F1-EBE0FAB415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D424FF7F-F8FB-453D-90F5-1EB7D7226430}"/>
              </a:ext>
            </a:extLst>
          </p:cNvPr>
          <p:cNvSpPr>
            <a:spLocks noGrp="1"/>
          </p:cNvSpPr>
          <p:nvPr>
            <p:ph type="dt" sz="half" idx="10"/>
          </p:nvPr>
        </p:nvSpPr>
        <p:spPr/>
        <p:txBody>
          <a:bodyPr/>
          <a:lstStyle/>
          <a:p>
            <a:fld id="{9D860650-ED15-4AAD-8C1F-C0F1BF264A9B}" type="datetimeFigureOut">
              <a:rPr lang="pt-BR" smtClean="0"/>
              <a:t>13/02/2026</a:t>
            </a:fld>
            <a:endParaRPr lang="pt-BR"/>
          </a:p>
        </p:txBody>
      </p:sp>
      <p:sp>
        <p:nvSpPr>
          <p:cNvPr id="6" name="Espaço Reservado para Rodapé 5">
            <a:extLst>
              <a:ext uri="{FF2B5EF4-FFF2-40B4-BE49-F238E27FC236}">
                <a16:creationId xmlns:a16="http://schemas.microsoft.com/office/drawing/2014/main" id="{8BDCF3EE-00CC-4F70-8DE4-21FB28AF0C95}"/>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5CEDB22C-4A5F-4585-BE36-207D368546B5}"/>
              </a:ext>
            </a:extLst>
          </p:cNvPr>
          <p:cNvSpPr>
            <a:spLocks noGrp="1"/>
          </p:cNvSpPr>
          <p:nvPr>
            <p:ph type="sldNum" sz="quarter" idx="12"/>
          </p:nvPr>
        </p:nvSpPr>
        <p:spPr/>
        <p:txBody>
          <a:bodyPr/>
          <a:lstStyle/>
          <a:p>
            <a:fld id="{44162620-E065-44E0-8994-752CAA663E9A}" type="slidenum">
              <a:rPr lang="pt-BR" smtClean="0"/>
              <a:t>‹nº›</a:t>
            </a:fld>
            <a:endParaRPr lang="pt-BR"/>
          </a:p>
        </p:txBody>
      </p:sp>
    </p:spTree>
    <p:extLst>
      <p:ext uri="{BB962C8B-B14F-4D97-AF65-F5344CB8AC3E}">
        <p14:creationId xmlns:p14="http://schemas.microsoft.com/office/powerpoint/2010/main" val="4184538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91F77A-202E-4ACB-AF82-B3F07D1F5087}"/>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B44E01D7-77A1-4B17-8ABC-2191A8FB43F1}"/>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49ECA73-300C-4599-9458-7C5A94E544BA}"/>
              </a:ext>
            </a:extLst>
          </p:cNvPr>
          <p:cNvSpPr>
            <a:spLocks noGrp="1"/>
          </p:cNvSpPr>
          <p:nvPr>
            <p:ph type="dt" sz="half" idx="10"/>
          </p:nvPr>
        </p:nvSpPr>
        <p:spPr/>
        <p:txBody>
          <a:bodyPr/>
          <a:lstStyle/>
          <a:p>
            <a:fld id="{9D860650-ED15-4AAD-8C1F-C0F1BF264A9B}" type="datetimeFigureOut">
              <a:rPr lang="pt-BR" smtClean="0"/>
              <a:t>13/02/2026</a:t>
            </a:fld>
            <a:endParaRPr lang="pt-BR"/>
          </a:p>
        </p:txBody>
      </p:sp>
      <p:sp>
        <p:nvSpPr>
          <p:cNvPr id="5" name="Espaço Reservado para Rodapé 4">
            <a:extLst>
              <a:ext uri="{FF2B5EF4-FFF2-40B4-BE49-F238E27FC236}">
                <a16:creationId xmlns:a16="http://schemas.microsoft.com/office/drawing/2014/main" id="{B800EFCC-C1F0-4057-8058-4225F815C53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862628BC-FCB5-46FE-BB38-7700ACC8A75C}"/>
              </a:ext>
            </a:extLst>
          </p:cNvPr>
          <p:cNvSpPr>
            <a:spLocks noGrp="1"/>
          </p:cNvSpPr>
          <p:nvPr>
            <p:ph type="sldNum" sz="quarter" idx="12"/>
          </p:nvPr>
        </p:nvSpPr>
        <p:spPr/>
        <p:txBody>
          <a:bodyPr/>
          <a:lstStyle/>
          <a:p>
            <a:fld id="{44162620-E065-44E0-8994-752CAA663E9A}" type="slidenum">
              <a:rPr lang="pt-BR" smtClean="0"/>
              <a:t>‹nº›</a:t>
            </a:fld>
            <a:endParaRPr lang="pt-BR"/>
          </a:p>
        </p:txBody>
      </p:sp>
    </p:spTree>
    <p:extLst>
      <p:ext uri="{BB962C8B-B14F-4D97-AF65-F5344CB8AC3E}">
        <p14:creationId xmlns:p14="http://schemas.microsoft.com/office/powerpoint/2010/main" val="3256366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6D545CA-04C4-4320-98D6-3C28DD3329DF}"/>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4CF9EAF4-E273-4D9D-8247-6E353DCC237B}"/>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0B6B31A-D64E-4E06-B0F1-044D8A273ABA}"/>
              </a:ext>
            </a:extLst>
          </p:cNvPr>
          <p:cNvSpPr>
            <a:spLocks noGrp="1"/>
          </p:cNvSpPr>
          <p:nvPr>
            <p:ph type="dt" sz="half" idx="10"/>
          </p:nvPr>
        </p:nvSpPr>
        <p:spPr/>
        <p:txBody>
          <a:bodyPr/>
          <a:lstStyle/>
          <a:p>
            <a:fld id="{9D860650-ED15-4AAD-8C1F-C0F1BF264A9B}" type="datetimeFigureOut">
              <a:rPr lang="pt-BR" smtClean="0"/>
              <a:t>13/02/2026</a:t>
            </a:fld>
            <a:endParaRPr lang="pt-BR"/>
          </a:p>
        </p:txBody>
      </p:sp>
      <p:sp>
        <p:nvSpPr>
          <p:cNvPr id="5" name="Espaço Reservado para Rodapé 4">
            <a:extLst>
              <a:ext uri="{FF2B5EF4-FFF2-40B4-BE49-F238E27FC236}">
                <a16:creationId xmlns:a16="http://schemas.microsoft.com/office/drawing/2014/main" id="{D42469BF-92BB-4EC4-97A9-F46DA7B47F6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7AE11E83-C2EA-4354-9F63-8C4B36DCF93B}"/>
              </a:ext>
            </a:extLst>
          </p:cNvPr>
          <p:cNvSpPr>
            <a:spLocks noGrp="1"/>
          </p:cNvSpPr>
          <p:nvPr>
            <p:ph type="sldNum" sz="quarter" idx="12"/>
          </p:nvPr>
        </p:nvSpPr>
        <p:spPr/>
        <p:txBody>
          <a:bodyPr/>
          <a:lstStyle/>
          <a:p>
            <a:fld id="{44162620-E065-44E0-8994-752CAA663E9A}" type="slidenum">
              <a:rPr lang="pt-BR" smtClean="0"/>
              <a:t>‹nº›</a:t>
            </a:fld>
            <a:endParaRPr lang="pt-BR"/>
          </a:p>
        </p:txBody>
      </p:sp>
    </p:spTree>
    <p:extLst>
      <p:ext uri="{BB962C8B-B14F-4D97-AF65-F5344CB8AC3E}">
        <p14:creationId xmlns:p14="http://schemas.microsoft.com/office/powerpoint/2010/main" val="1725363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E3100931-5FB7-4930-AE98-049C1D2516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9913BB74-4DC6-48F9-A931-14F309F57E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51D21483-3934-4AF1-8A06-3C3C7E4A46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860650-ED15-4AAD-8C1F-C0F1BF264A9B}" type="datetimeFigureOut">
              <a:rPr lang="pt-BR" smtClean="0"/>
              <a:t>13/02/2026</a:t>
            </a:fld>
            <a:endParaRPr lang="pt-BR"/>
          </a:p>
        </p:txBody>
      </p:sp>
      <p:sp>
        <p:nvSpPr>
          <p:cNvPr id="5" name="Espaço Reservado para Rodapé 4">
            <a:extLst>
              <a:ext uri="{FF2B5EF4-FFF2-40B4-BE49-F238E27FC236}">
                <a16:creationId xmlns:a16="http://schemas.microsoft.com/office/drawing/2014/main" id="{CF7930A7-287C-48AC-A14F-2304AEE07E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9F414376-175B-47E8-8294-8685F24D88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162620-E065-44E0-8994-752CAA663E9A}" type="slidenum">
              <a:rPr lang="pt-BR" smtClean="0"/>
              <a:t>‹nº›</a:t>
            </a:fld>
            <a:endParaRPr lang="pt-BR"/>
          </a:p>
        </p:txBody>
      </p:sp>
    </p:spTree>
    <p:extLst>
      <p:ext uri="{BB962C8B-B14F-4D97-AF65-F5344CB8AC3E}">
        <p14:creationId xmlns:p14="http://schemas.microsoft.com/office/powerpoint/2010/main" val="1558461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bit.ly/4kiXQta"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5C354D-E28C-4C97-BF61-FC84147AC32D}"/>
              </a:ext>
            </a:extLst>
          </p:cNvPr>
          <p:cNvSpPr>
            <a:spLocks noGrp="1"/>
          </p:cNvSpPr>
          <p:nvPr>
            <p:ph type="ctrTitle"/>
          </p:nvPr>
        </p:nvSpPr>
        <p:spPr>
          <a:xfrm>
            <a:off x="1291243" y="461623"/>
            <a:ext cx="9144000" cy="710472"/>
          </a:xfrm>
        </p:spPr>
        <p:txBody>
          <a:bodyPr>
            <a:noAutofit/>
          </a:bodyPr>
          <a:lstStyle/>
          <a:p>
            <a:r>
              <a:rPr lang="pt-BR" sz="4400" b="1" dirty="0">
                <a:solidFill>
                  <a:schemeClr val="accent1"/>
                </a:solidFill>
              </a:rPr>
              <a:t>Apresentação</a:t>
            </a:r>
          </a:p>
        </p:txBody>
      </p:sp>
      <p:sp>
        <p:nvSpPr>
          <p:cNvPr id="3" name="Subtítulo 2">
            <a:extLst>
              <a:ext uri="{FF2B5EF4-FFF2-40B4-BE49-F238E27FC236}">
                <a16:creationId xmlns:a16="http://schemas.microsoft.com/office/drawing/2014/main" id="{E619E270-34D0-4C84-8AF9-2E7D7342E408}"/>
              </a:ext>
            </a:extLst>
          </p:cNvPr>
          <p:cNvSpPr>
            <a:spLocks noGrp="1"/>
          </p:cNvSpPr>
          <p:nvPr>
            <p:ph type="subTitle" idx="1"/>
          </p:nvPr>
        </p:nvSpPr>
        <p:spPr>
          <a:xfrm>
            <a:off x="995082" y="1488566"/>
            <a:ext cx="10489660" cy="4957542"/>
          </a:xfrm>
        </p:spPr>
        <p:txBody>
          <a:bodyPr>
            <a:normAutofit lnSpcReduction="10000"/>
          </a:bodyPr>
          <a:lstStyle/>
          <a:p>
            <a:pPr algn="l"/>
            <a:r>
              <a:rPr lang="pt-BR" sz="3900" dirty="0">
                <a:solidFill>
                  <a:schemeClr val="accent1"/>
                </a:solidFill>
              </a:rPr>
              <a:t>Prof. Martinele</a:t>
            </a:r>
          </a:p>
          <a:p>
            <a:pPr algn="l"/>
            <a:endParaRPr lang="pt-BR" sz="3200" dirty="0">
              <a:solidFill>
                <a:schemeClr val="accent1"/>
              </a:solidFill>
            </a:endParaRPr>
          </a:p>
          <a:p>
            <a:pPr algn="l"/>
            <a:r>
              <a:rPr lang="pt-BR" dirty="0"/>
              <a:t>Mestre em Engenharia de Produção</a:t>
            </a:r>
          </a:p>
          <a:p>
            <a:pPr algn="l"/>
            <a:r>
              <a:rPr lang="pt-BR" dirty="0"/>
              <a:t>Graduado em Ciência da Computação</a:t>
            </a:r>
          </a:p>
          <a:p>
            <a:pPr algn="l"/>
            <a:endParaRPr lang="pt-BR" dirty="0"/>
          </a:p>
          <a:p>
            <a:pPr algn="l"/>
            <a:r>
              <a:rPr lang="pt-BR" dirty="0"/>
              <a:t>Trabalhei em uma instituição de ensino de grande porte por cerca de 9 anos, ministrando aulas nos cursos de informática. Então ministro aulas de informática desde 2012.</a:t>
            </a:r>
          </a:p>
          <a:p>
            <a:pPr algn="l"/>
            <a:endParaRPr lang="pt-BR" dirty="0"/>
          </a:p>
          <a:p>
            <a:pPr algn="l"/>
            <a:r>
              <a:rPr lang="pt-BR" dirty="0"/>
              <a:t>Trabalho com TI há mais de 20 anos em empresas como: Banco Société Générale Brasil SA, Banco ING, </a:t>
            </a:r>
            <a:r>
              <a:rPr lang="pt-BR" dirty="0" err="1"/>
              <a:t>Gedas</a:t>
            </a:r>
            <a:r>
              <a:rPr lang="pt-BR" dirty="0"/>
              <a:t> (antigo braço de tecnologia da Volkswagen), dentre outros.</a:t>
            </a:r>
          </a:p>
        </p:txBody>
      </p:sp>
      <p:pic>
        <p:nvPicPr>
          <p:cNvPr id="5" name="Imagem 4">
            <a:extLst>
              <a:ext uri="{FF2B5EF4-FFF2-40B4-BE49-F238E27FC236}">
                <a16:creationId xmlns:a16="http://schemas.microsoft.com/office/drawing/2014/main" id="{4AE3BD58-764C-4472-B40D-78780C57AE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411892"/>
            <a:ext cx="816742" cy="477794"/>
          </a:xfrm>
          <a:prstGeom prst="rect">
            <a:avLst/>
          </a:prstGeom>
        </p:spPr>
      </p:pic>
    </p:spTree>
    <p:extLst>
      <p:ext uri="{BB962C8B-B14F-4D97-AF65-F5344CB8AC3E}">
        <p14:creationId xmlns:p14="http://schemas.microsoft.com/office/powerpoint/2010/main" val="26644760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5C354D-E28C-4C97-BF61-FC84147AC32D}"/>
              </a:ext>
            </a:extLst>
          </p:cNvPr>
          <p:cNvSpPr>
            <a:spLocks noGrp="1"/>
          </p:cNvSpPr>
          <p:nvPr>
            <p:ph type="ctrTitle"/>
          </p:nvPr>
        </p:nvSpPr>
        <p:spPr>
          <a:xfrm>
            <a:off x="1282931" y="548641"/>
            <a:ext cx="9144000" cy="477795"/>
          </a:xfrm>
        </p:spPr>
        <p:txBody>
          <a:bodyPr>
            <a:noAutofit/>
          </a:bodyPr>
          <a:lstStyle/>
          <a:p>
            <a:r>
              <a:rPr lang="pt-BR" sz="3600" b="1" dirty="0">
                <a:solidFill>
                  <a:schemeClr val="accent1"/>
                </a:solidFill>
              </a:rPr>
              <a:t>TCC I - Agenda</a:t>
            </a:r>
          </a:p>
        </p:txBody>
      </p:sp>
      <p:sp>
        <p:nvSpPr>
          <p:cNvPr id="3" name="Subtítulo 2">
            <a:extLst>
              <a:ext uri="{FF2B5EF4-FFF2-40B4-BE49-F238E27FC236}">
                <a16:creationId xmlns:a16="http://schemas.microsoft.com/office/drawing/2014/main" id="{E619E270-34D0-4C84-8AF9-2E7D7342E408}"/>
              </a:ext>
            </a:extLst>
          </p:cNvPr>
          <p:cNvSpPr>
            <a:spLocks noGrp="1"/>
          </p:cNvSpPr>
          <p:nvPr>
            <p:ph type="subTitle" idx="1"/>
          </p:nvPr>
        </p:nvSpPr>
        <p:spPr>
          <a:xfrm>
            <a:off x="942109" y="1165767"/>
            <a:ext cx="10307782" cy="5143592"/>
          </a:xfrm>
        </p:spPr>
        <p:txBody>
          <a:bodyPr>
            <a:noAutofit/>
          </a:bodyPr>
          <a:lstStyle/>
          <a:p>
            <a:pPr marL="457200" indent="-457200" algn="l">
              <a:lnSpc>
                <a:spcPct val="100000"/>
              </a:lnSpc>
              <a:buFont typeface="Wingdings" panose="05000000000000000000" pitchFamily="2" charset="2"/>
              <a:buChar char="Ø"/>
            </a:pPr>
            <a:r>
              <a:rPr lang="pt-BR" sz="2800" dirty="0">
                <a:solidFill>
                  <a:schemeClr val="accent1"/>
                </a:solidFill>
              </a:rPr>
              <a:t>O TCC I</a:t>
            </a:r>
          </a:p>
          <a:p>
            <a:pPr marL="457200" indent="-457200" algn="l">
              <a:lnSpc>
                <a:spcPct val="100000"/>
              </a:lnSpc>
              <a:buFont typeface="Wingdings" panose="05000000000000000000" pitchFamily="2" charset="2"/>
              <a:buChar char="Ø"/>
            </a:pPr>
            <a:r>
              <a:rPr lang="pt-BR" sz="2800" dirty="0">
                <a:solidFill>
                  <a:schemeClr val="accent1"/>
                </a:solidFill>
              </a:rPr>
              <a:t>Objetivos e recursos</a:t>
            </a:r>
          </a:p>
          <a:p>
            <a:pPr marL="457200" indent="-457200" algn="l">
              <a:lnSpc>
                <a:spcPct val="100000"/>
              </a:lnSpc>
              <a:buFont typeface="Wingdings" panose="05000000000000000000" pitchFamily="2" charset="2"/>
              <a:buChar char="Ø"/>
            </a:pPr>
            <a:r>
              <a:rPr lang="pt-BR" sz="2800" dirty="0">
                <a:solidFill>
                  <a:schemeClr val="accent1"/>
                </a:solidFill>
              </a:rPr>
              <a:t>Atividades a serem entregues</a:t>
            </a:r>
          </a:p>
          <a:p>
            <a:pPr marL="457200" indent="-457200" algn="l">
              <a:lnSpc>
                <a:spcPct val="100000"/>
              </a:lnSpc>
              <a:buFont typeface="Wingdings" panose="05000000000000000000" pitchFamily="2" charset="2"/>
              <a:buChar char="Ø"/>
            </a:pPr>
            <a:r>
              <a:rPr lang="pt-BR" sz="2800" dirty="0">
                <a:solidFill>
                  <a:schemeClr val="accent1"/>
                </a:solidFill>
              </a:rPr>
              <a:t>Datas das atividades a serem entregues (cronograma)</a:t>
            </a:r>
          </a:p>
          <a:p>
            <a:pPr marL="457200" indent="-457200" algn="l">
              <a:lnSpc>
                <a:spcPct val="100000"/>
              </a:lnSpc>
              <a:buFont typeface="Wingdings" panose="05000000000000000000" pitchFamily="2" charset="2"/>
              <a:buChar char="Ø"/>
            </a:pPr>
            <a:r>
              <a:rPr lang="pt-BR" sz="2800" dirty="0">
                <a:solidFill>
                  <a:schemeClr val="accent1"/>
                </a:solidFill>
              </a:rPr>
              <a:t>Critérios comuns de avaliação</a:t>
            </a:r>
          </a:p>
          <a:p>
            <a:pPr marL="457200" indent="-457200" algn="l">
              <a:lnSpc>
                <a:spcPct val="100000"/>
              </a:lnSpc>
              <a:buFont typeface="Wingdings" panose="05000000000000000000" pitchFamily="2" charset="2"/>
              <a:buChar char="Ø"/>
            </a:pPr>
            <a:r>
              <a:rPr lang="pt-BR" sz="2800" dirty="0">
                <a:solidFill>
                  <a:schemeClr val="accent1"/>
                </a:solidFill>
              </a:rPr>
              <a:t>Quanto a estrutura e/ou modelo</a:t>
            </a:r>
          </a:p>
          <a:p>
            <a:pPr marL="457200" indent="-457200" algn="l">
              <a:lnSpc>
                <a:spcPct val="100000"/>
              </a:lnSpc>
              <a:buFont typeface="Wingdings" panose="05000000000000000000" pitchFamily="2" charset="2"/>
              <a:buChar char="Ø"/>
            </a:pPr>
            <a:r>
              <a:rPr lang="pt-BR" sz="2800" dirty="0">
                <a:solidFill>
                  <a:schemeClr val="accent1"/>
                </a:solidFill>
              </a:rPr>
              <a:t>Composição das notas</a:t>
            </a:r>
          </a:p>
          <a:p>
            <a:pPr marL="457200" indent="-457200" algn="l">
              <a:lnSpc>
                <a:spcPct val="100000"/>
              </a:lnSpc>
              <a:buFont typeface="Wingdings" panose="05000000000000000000" pitchFamily="2" charset="2"/>
              <a:buChar char="Ø"/>
            </a:pPr>
            <a:r>
              <a:rPr lang="pt-BR" sz="2800" dirty="0">
                <a:solidFill>
                  <a:schemeClr val="accent1"/>
                </a:solidFill>
              </a:rPr>
              <a:t>Quanto ao Plágio</a:t>
            </a:r>
          </a:p>
          <a:p>
            <a:pPr marL="457200" indent="-457200" algn="l">
              <a:lnSpc>
                <a:spcPct val="100000"/>
              </a:lnSpc>
              <a:buFont typeface="Wingdings" panose="05000000000000000000" pitchFamily="2" charset="2"/>
              <a:buChar char="Ø"/>
            </a:pPr>
            <a:r>
              <a:rPr lang="pt-BR" sz="2800" dirty="0">
                <a:solidFill>
                  <a:schemeClr val="accent1"/>
                </a:solidFill>
              </a:rPr>
              <a:t>Contato com o orientador</a:t>
            </a:r>
          </a:p>
          <a:p>
            <a:pPr marL="457200" indent="-457200" algn="l">
              <a:lnSpc>
                <a:spcPct val="100000"/>
              </a:lnSpc>
              <a:buFont typeface="Wingdings" panose="05000000000000000000" pitchFamily="2" charset="2"/>
              <a:buChar char="Ø"/>
            </a:pPr>
            <a:endParaRPr lang="pt-BR" sz="2800" dirty="0">
              <a:solidFill>
                <a:schemeClr val="accent1"/>
              </a:solidFill>
              <a:highlight>
                <a:srgbClr val="FFFF00"/>
              </a:highlight>
            </a:endParaRPr>
          </a:p>
        </p:txBody>
      </p:sp>
      <p:pic>
        <p:nvPicPr>
          <p:cNvPr id="5" name="Imagem 4">
            <a:extLst>
              <a:ext uri="{FF2B5EF4-FFF2-40B4-BE49-F238E27FC236}">
                <a16:creationId xmlns:a16="http://schemas.microsoft.com/office/drawing/2014/main" id="{4AE3BD58-764C-4472-B40D-78780C57AE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411892"/>
            <a:ext cx="816742" cy="477794"/>
          </a:xfrm>
          <a:prstGeom prst="rect">
            <a:avLst/>
          </a:prstGeom>
        </p:spPr>
      </p:pic>
    </p:spTree>
    <p:extLst>
      <p:ext uri="{BB962C8B-B14F-4D97-AF65-F5344CB8AC3E}">
        <p14:creationId xmlns:p14="http://schemas.microsoft.com/office/powerpoint/2010/main" val="3949856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5C354D-E28C-4C97-BF61-FC84147AC32D}"/>
              </a:ext>
            </a:extLst>
          </p:cNvPr>
          <p:cNvSpPr>
            <a:spLocks noGrp="1"/>
          </p:cNvSpPr>
          <p:nvPr>
            <p:ph type="ctrTitle"/>
          </p:nvPr>
        </p:nvSpPr>
        <p:spPr>
          <a:xfrm>
            <a:off x="1351006" y="480306"/>
            <a:ext cx="9144000" cy="619256"/>
          </a:xfrm>
        </p:spPr>
        <p:txBody>
          <a:bodyPr>
            <a:noAutofit/>
          </a:bodyPr>
          <a:lstStyle/>
          <a:p>
            <a:r>
              <a:rPr lang="pt-BR" sz="3600" b="1" dirty="0">
                <a:solidFill>
                  <a:schemeClr val="accent1"/>
                </a:solidFill>
              </a:rPr>
              <a:t>Orientações Gerais</a:t>
            </a:r>
          </a:p>
        </p:txBody>
      </p:sp>
      <p:sp>
        <p:nvSpPr>
          <p:cNvPr id="3" name="Subtítulo 2">
            <a:extLst>
              <a:ext uri="{FF2B5EF4-FFF2-40B4-BE49-F238E27FC236}">
                <a16:creationId xmlns:a16="http://schemas.microsoft.com/office/drawing/2014/main" id="{E619E270-34D0-4C84-8AF9-2E7D7342E408}"/>
              </a:ext>
            </a:extLst>
          </p:cNvPr>
          <p:cNvSpPr>
            <a:spLocks noGrp="1"/>
          </p:cNvSpPr>
          <p:nvPr>
            <p:ph type="subTitle" idx="1"/>
          </p:nvPr>
        </p:nvSpPr>
        <p:spPr>
          <a:xfrm>
            <a:off x="1193064" y="1537261"/>
            <a:ext cx="10291677" cy="4840433"/>
          </a:xfrm>
        </p:spPr>
        <p:txBody>
          <a:bodyPr>
            <a:normAutofit lnSpcReduction="10000"/>
          </a:bodyPr>
          <a:lstStyle/>
          <a:p>
            <a:pPr algn="l"/>
            <a:r>
              <a:rPr lang="pt-BR" sz="3200" dirty="0">
                <a:solidFill>
                  <a:schemeClr val="accent1"/>
                </a:solidFill>
              </a:rPr>
              <a:t>O TCC I</a:t>
            </a:r>
          </a:p>
          <a:p>
            <a:pPr algn="l"/>
            <a:endParaRPr lang="pt-BR" sz="2000" dirty="0"/>
          </a:p>
          <a:p>
            <a:pPr marL="342900" indent="-342900" algn="l">
              <a:buFont typeface="Arial" panose="020B0604020202020204" pitchFamily="34" charset="0"/>
              <a:buChar char="•"/>
            </a:pPr>
            <a:r>
              <a:rPr lang="pt-BR" sz="2600" dirty="0"/>
              <a:t>O TCC I compreende a base para que o trabalho possa ser desenvolvido como: fundamentação teórico, a coleta de requisitos, a escolha da metodologia a ser empregada, as ferramentas a serem utilizadas (que podem mudar), bem como o cronograma SERÃO UTILIZADOS; eles irão virar capítulos.</a:t>
            </a:r>
          </a:p>
          <a:p>
            <a:pPr marL="342900" indent="-342900" algn="l">
              <a:buFont typeface="Arial" panose="020B0604020202020204" pitchFamily="34" charset="0"/>
              <a:buChar char="•"/>
            </a:pPr>
            <a:endParaRPr lang="pt-BR" sz="2600" dirty="0"/>
          </a:p>
          <a:p>
            <a:pPr marL="342900" indent="-342900" algn="l">
              <a:buFont typeface="Arial" panose="020B0604020202020204" pitchFamily="34" charset="0"/>
              <a:buChar char="•"/>
            </a:pPr>
            <a:r>
              <a:rPr lang="pt-BR" sz="2600" dirty="0"/>
              <a:t>Capítulos deve ser bem escritos e devem ser bem explorados, seguindo o modelo, SEMPRE DA ABNT</a:t>
            </a:r>
          </a:p>
          <a:p>
            <a:pPr marL="342900" indent="-342900" algn="l">
              <a:buFont typeface="Arial" panose="020B0604020202020204" pitchFamily="34" charset="0"/>
              <a:buChar char="•"/>
            </a:pPr>
            <a:endParaRPr lang="pt-BR" sz="2600" dirty="0"/>
          </a:p>
          <a:p>
            <a:pPr marL="342900" indent="-342900" algn="l">
              <a:buFont typeface="Arial" panose="020B0604020202020204" pitchFamily="34" charset="0"/>
              <a:buChar char="•"/>
            </a:pPr>
            <a:r>
              <a:rPr lang="pt-BR" sz="2600" dirty="0"/>
              <a:t>Sempre fazer as citações e referenciar TODAS AS FONTES utilizadas</a:t>
            </a:r>
          </a:p>
          <a:p>
            <a:pPr algn="l"/>
            <a:endParaRPr lang="pt-BR" sz="2000" dirty="0"/>
          </a:p>
          <a:p>
            <a:pPr algn="l"/>
            <a:endParaRPr lang="pt-BR" sz="2000" dirty="0"/>
          </a:p>
          <a:p>
            <a:pPr algn="l"/>
            <a:endParaRPr lang="pt-BR" sz="2000" dirty="0"/>
          </a:p>
        </p:txBody>
      </p:sp>
      <p:pic>
        <p:nvPicPr>
          <p:cNvPr id="5" name="Imagem 4">
            <a:extLst>
              <a:ext uri="{FF2B5EF4-FFF2-40B4-BE49-F238E27FC236}">
                <a16:creationId xmlns:a16="http://schemas.microsoft.com/office/drawing/2014/main" id="{4AE3BD58-764C-4472-B40D-78780C57AE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411892"/>
            <a:ext cx="816742" cy="477794"/>
          </a:xfrm>
          <a:prstGeom prst="rect">
            <a:avLst/>
          </a:prstGeom>
        </p:spPr>
      </p:pic>
    </p:spTree>
    <p:extLst>
      <p:ext uri="{BB962C8B-B14F-4D97-AF65-F5344CB8AC3E}">
        <p14:creationId xmlns:p14="http://schemas.microsoft.com/office/powerpoint/2010/main" val="655441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5C354D-E28C-4C97-BF61-FC84147AC32D}"/>
              </a:ext>
            </a:extLst>
          </p:cNvPr>
          <p:cNvSpPr>
            <a:spLocks noGrp="1"/>
          </p:cNvSpPr>
          <p:nvPr>
            <p:ph type="ctrTitle"/>
          </p:nvPr>
        </p:nvSpPr>
        <p:spPr>
          <a:xfrm>
            <a:off x="1351006" y="480306"/>
            <a:ext cx="9144000" cy="619256"/>
          </a:xfrm>
        </p:spPr>
        <p:txBody>
          <a:bodyPr>
            <a:noAutofit/>
          </a:bodyPr>
          <a:lstStyle/>
          <a:p>
            <a:r>
              <a:rPr lang="pt-BR" sz="3600" b="1" dirty="0">
                <a:solidFill>
                  <a:schemeClr val="accent1"/>
                </a:solidFill>
              </a:rPr>
              <a:t>Apresentação da disciplina</a:t>
            </a:r>
          </a:p>
        </p:txBody>
      </p:sp>
      <p:sp>
        <p:nvSpPr>
          <p:cNvPr id="3" name="Subtítulo 2">
            <a:extLst>
              <a:ext uri="{FF2B5EF4-FFF2-40B4-BE49-F238E27FC236}">
                <a16:creationId xmlns:a16="http://schemas.microsoft.com/office/drawing/2014/main" id="{E619E270-34D0-4C84-8AF9-2E7D7342E408}"/>
              </a:ext>
            </a:extLst>
          </p:cNvPr>
          <p:cNvSpPr>
            <a:spLocks noGrp="1"/>
          </p:cNvSpPr>
          <p:nvPr>
            <p:ph type="subTitle" idx="1"/>
          </p:nvPr>
        </p:nvSpPr>
        <p:spPr>
          <a:xfrm>
            <a:off x="1203088" y="1576136"/>
            <a:ext cx="9944524" cy="4801558"/>
          </a:xfrm>
        </p:spPr>
        <p:txBody>
          <a:bodyPr>
            <a:normAutofit/>
          </a:bodyPr>
          <a:lstStyle/>
          <a:p>
            <a:pPr algn="l"/>
            <a:r>
              <a:rPr lang="pt-BR" sz="3200" dirty="0">
                <a:solidFill>
                  <a:schemeClr val="accent1"/>
                </a:solidFill>
              </a:rPr>
              <a:t>TCC1 – Trabalho de conclusão de curso 1 – Objetivos e Recursos</a:t>
            </a:r>
          </a:p>
          <a:p>
            <a:pPr algn="l"/>
            <a:endParaRPr lang="pt-BR" sz="2000" dirty="0"/>
          </a:p>
          <a:p>
            <a:pPr marL="342900" indent="-342900" algn="l">
              <a:buFont typeface="Arial" panose="020B0604020202020204" pitchFamily="34" charset="0"/>
              <a:buChar char="•"/>
            </a:pPr>
            <a:r>
              <a:rPr lang="pt-BR" sz="2600" dirty="0"/>
              <a:t>Demonstrar a capacidade que o estudante tem em aplicar todos os conhecimentos adquiridos em diferentes matérias ao longo do curso em um projeto único com duração de um ano, separado em dois semestres em que no primeiro semestre o aluno aborda a construção do tema, definindo toda uma documentação técnica, após captar os requisitos necessários para a construção do projeto.</a:t>
            </a:r>
          </a:p>
          <a:p>
            <a:pPr marL="342900" indent="-342900" algn="l">
              <a:buFont typeface="Arial" panose="020B0604020202020204" pitchFamily="34" charset="0"/>
              <a:buChar char="•"/>
            </a:pPr>
            <a:endParaRPr lang="pt-BR" sz="2600" dirty="0"/>
          </a:p>
          <a:p>
            <a:pPr marL="342900" indent="-342900" algn="l">
              <a:buFont typeface="Arial" panose="020B0604020202020204" pitchFamily="34" charset="0"/>
              <a:buChar char="•"/>
            </a:pPr>
            <a:r>
              <a:rPr lang="pt-BR" sz="2600" dirty="0"/>
              <a:t>O projeto deve abordar uma ou mais ODSs</a:t>
            </a:r>
          </a:p>
        </p:txBody>
      </p:sp>
      <p:pic>
        <p:nvPicPr>
          <p:cNvPr id="5" name="Imagem 4">
            <a:extLst>
              <a:ext uri="{FF2B5EF4-FFF2-40B4-BE49-F238E27FC236}">
                <a16:creationId xmlns:a16="http://schemas.microsoft.com/office/drawing/2014/main" id="{4AE3BD58-764C-4472-B40D-78780C57AE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411892"/>
            <a:ext cx="816742" cy="477794"/>
          </a:xfrm>
          <a:prstGeom prst="rect">
            <a:avLst/>
          </a:prstGeom>
        </p:spPr>
      </p:pic>
    </p:spTree>
    <p:extLst>
      <p:ext uri="{BB962C8B-B14F-4D97-AF65-F5344CB8AC3E}">
        <p14:creationId xmlns:p14="http://schemas.microsoft.com/office/powerpoint/2010/main" val="1171030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5C354D-E28C-4C97-BF61-FC84147AC32D}"/>
              </a:ext>
            </a:extLst>
          </p:cNvPr>
          <p:cNvSpPr>
            <a:spLocks noGrp="1"/>
          </p:cNvSpPr>
          <p:nvPr>
            <p:ph type="ctrTitle"/>
          </p:nvPr>
        </p:nvSpPr>
        <p:spPr>
          <a:xfrm>
            <a:off x="1351006" y="480306"/>
            <a:ext cx="9144000" cy="619256"/>
          </a:xfrm>
        </p:spPr>
        <p:txBody>
          <a:bodyPr>
            <a:noAutofit/>
          </a:bodyPr>
          <a:lstStyle/>
          <a:p>
            <a:r>
              <a:rPr lang="pt-BR" sz="3600" b="1" dirty="0">
                <a:solidFill>
                  <a:schemeClr val="accent1"/>
                </a:solidFill>
              </a:rPr>
              <a:t>Apresentação da disciplina</a:t>
            </a:r>
          </a:p>
        </p:txBody>
      </p:sp>
      <p:sp>
        <p:nvSpPr>
          <p:cNvPr id="3" name="Subtítulo 2">
            <a:extLst>
              <a:ext uri="{FF2B5EF4-FFF2-40B4-BE49-F238E27FC236}">
                <a16:creationId xmlns:a16="http://schemas.microsoft.com/office/drawing/2014/main" id="{E619E270-34D0-4C84-8AF9-2E7D7342E408}"/>
              </a:ext>
            </a:extLst>
          </p:cNvPr>
          <p:cNvSpPr>
            <a:spLocks noGrp="1"/>
          </p:cNvSpPr>
          <p:nvPr>
            <p:ph type="subTitle" idx="1"/>
          </p:nvPr>
        </p:nvSpPr>
        <p:spPr>
          <a:xfrm>
            <a:off x="1189640" y="1695499"/>
            <a:ext cx="10200019" cy="4682195"/>
          </a:xfrm>
        </p:spPr>
        <p:txBody>
          <a:bodyPr>
            <a:normAutofit/>
          </a:bodyPr>
          <a:lstStyle/>
          <a:p>
            <a:pPr algn="l"/>
            <a:r>
              <a:rPr lang="pt-BR" sz="3200" dirty="0">
                <a:solidFill>
                  <a:schemeClr val="accent1"/>
                </a:solidFill>
              </a:rPr>
              <a:t>TCC1 – Recursos</a:t>
            </a:r>
          </a:p>
          <a:p>
            <a:pPr algn="l"/>
            <a:endParaRPr lang="pt-BR" dirty="0"/>
          </a:p>
          <a:p>
            <a:pPr marL="342900" indent="-342900" algn="l">
              <a:buFont typeface="Arial" panose="020B0604020202020204" pitchFamily="34" charset="0"/>
              <a:buChar char="•"/>
            </a:pPr>
            <a:r>
              <a:rPr lang="pt-BR" dirty="0"/>
              <a:t>Serão utilizadas aulas expositivas com apresentação de conteúdos que possam facilitar o desenvolvimento do projeto;</a:t>
            </a:r>
          </a:p>
          <a:p>
            <a:pPr marL="342900" indent="-342900" algn="l">
              <a:buFont typeface="Arial" panose="020B0604020202020204" pitchFamily="34" charset="0"/>
              <a:buChar char="•"/>
            </a:pPr>
            <a:r>
              <a:rPr lang="pt-BR" dirty="0"/>
              <a:t>Todo o projeto será desenvolvido com o uso do GitHub </a:t>
            </a:r>
            <a:r>
              <a:rPr lang="pt-BR" dirty="0" err="1"/>
              <a:t>Classroom</a:t>
            </a:r>
            <a:r>
              <a:rPr lang="pt-BR" dirty="0"/>
              <a:t> (a ser explicado e implementado);</a:t>
            </a:r>
          </a:p>
          <a:p>
            <a:pPr marL="342900" indent="-342900" algn="l">
              <a:buFont typeface="Arial" panose="020B0604020202020204" pitchFamily="34" charset="0"/>
              <a:buChar char="•"/>
            </a:pPr>
            <a:r>
              <a:rPr lang="pt-BR" dirty="0"/>
              <a:t>Mendeley Desktop ou qualquer outra ferramenta para gerenciar referências bibliográficas;</a:t>
            </a:r>
          </a:p>
          <a:p>
            <a:pPr marL="342900" indent="-342900" algn="l">
              <a:buFont typeface="Arial" panose="020B0604020202020204" pitchFamily="34" charset="0"/>
              <a:buChar char="•"/>
            </a:pPr>
            <a:r>
              <a:rPr lang="pt-BR" dirty="0"/>
              <a:t>Atas e demais documentos necessários ao andamento do projeto;</a:t>
            </a:r>
          </a:p>
          <a:p>
            <a:pPr marL="342900" indent="-342900" algn="l">
              <a:buFont typeface="Arial" panose="020B0604020202020204" pitchFamily="34" charset="0"/>
              <a:buChar char="•"/>
            </a:pPr>
            <a:r>
              <a:rPr lang="pt-BR" dirty="0"/>
              <a:t>Qualquer ferramenta de uso específico necessária ao desenvolvimento do projeto.</a:t>
            </a:r>
          </a:p>
        </p:txBody>
      </p:sp>
      <p:pic>
        <p:nvPicPr>
          <p:cNvPr id="5" name="Imagem 4">
            <a:extLst>
              <a:ext uri="{FF2B5EF4-FFF2-40B4-BE49-F238E27FC236}">
                <a16:creationId xmlns:a16="http://schemas.microsoft.com/office/drawing/2014/main" id="{4AE3BD58-764C-4472-B40D-78780C57AE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411892"/>
            <a:ext cx="816742" cy="477794"/>
          </a:xfrm>
          <a:prstGeom prst="rect">
            <a:avLst/>
          </a:prstGeom>
        </p:spPr>
      </p:pic>
    </p:spTree>
    <p:extLst>
      <p:ext uri="{BB962C8B-B14F-4D97-AF65-F5344CB8AC3E}">
        <p14:creationId xmlns:p14="http://schemas.microsoft.com/office/powerpoint/2010/main" val="1066967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5C354D-E28C-4C97-BF61-FC84147AC32D}"/>
              </a:ext>
            </a:extLst>
          </p:cNvPr>
          <p:cNvSpPr>
            <a:spLocks noGrp="1"/>
          </p:cNvSpPr>
          <p:nvPr>
            <p:ph type="ctrTitle"/>
          </p:nvPr>
        </p:nvSpPr>
        <p:spPr>
          <a:xfrm>
            <a:off x="1351006" y="480306"/>
            <a:ext cx="9144000" cy="619256"/>
          </a:xfrm>
        </p:spPr>
        <p:txBody>
          <a:bodyPr>
            <a:noAutofit/>
          </a:bodyPr>
          <a:lstStyle/>
          <a:p>
            <a:r>
              <a:rPr lang="pt-BR" sz="3600" b="1" dirty="0">
                <a:solidFill>
                  <a:schemeClr val="accent1"/>
                </a:solidFill>
              </a:rPr>
              <a:t>Orientações Gerais</a:t>
            </a:r>
          </a:p>
        </p:txBody>
      </p:sp>
      <p:sp>
        <p:nvSpPr>
          <p:cNvPr id="3" name="Subtítulo 2">
            <a:extLst>
              <a:ext uri="{FF2B5EF4-FFF2-40B4-BE49-F238E27FC236}">
                <a16:creationId xmlns:a16="http://schemas.microsoft.com/office/drawing/2014/main" id="{E619E270-34D0-4C84-8AF9-2E7D7342E408}"/>
              </a:ext>
            </a:extLst>
          </p:cNvPr>
          <p:cNvSpPr>
            <a:spLocks noGrp="1"/>
          </p:cNvSpPr>
          <p:nvPr>
            <p:ph type="subTitle" idx="1"/>
          </p:nvPr>
        </p:nvSpPr>
        <p:spPr>
          <a:xfrm>
            <a:off x="1193064" y="1537261"/>
            <a:ext cx="10291677" cy="4240084"/>
          </a:xfrm>
        </p:spPr>
        <p:txBody>
          <a:bodyPr>
            <a:normAutofit/>
          </a:bodyPr>
          <a:lstStyle/>
          <a:p>
            <a:pPr algn="l"/>
            <a:r>
              <a:rPr lang="pt-BR" sz="3200" dirty="0">
                <a:solidFill>
                  <a:schemeClr val="accent1"/>
                </a:solidFill>
              </a:rPr>
              <a:t>As atividades (Entregas)</a:t>
            </a:r>
          </a:p>
          <a:p>
            <a:pPr algn="l"/>
            <a:endParaRPr lang="pt-BR" sz="2000" dirty="0"/>
          </a:p>
          <a:p>
            <a:pPr marL="342900" indent="-342900" algn="l">
              <a:buFont typeface="Arial" panose="020B0604020202020204" pitchFamily="34" charset="0"/>
              <a:buChar char="•"/>
            </a:pPr>
            <a:r>
              <a:rPr lang="pt-BR" sz="2800" dirty="0"/>
              <a:t>Serão definidas 4 entregas definidas para que haja um controle do desenvolvimento deste TCC, até a sua entrega FINAL, a quinta e última entrega, já definida para submissão à Banca Examinadora.</a:t>
            </a:r>
          </a:p>
          <a:p>
            <a:pPr marL="342900" indent="-342900" algn="l">
              <a:buFont typeface="Arial" panose="020B0604020202020204" pitchFamily="34" charset="0"/>
              <a:buChar char="•"/>
            </a:pPr>
            <a:endParaRPr lang="pt-BR" sz="2800" dirty="0"/>
          </a:p>
          <a:p>
            <a:pPr marL="342900" indent="-342900" algn="l">
              <a:buFont typeface="Arial" panose="020B0604020202020204" pitchFamily="34" charset="0"/>
              <a:buChar char="•"/>
            </a:pPr>
            <a:r>
              <a:rPr lang="pt-BR" sz="2800" dirty="0"/>
              <a:t>As datas ainda serão definidas pelo orientador</a:t>
            </a:r>
          </a:p>
          <a:p>
            <a:pPr marL="342900" indent="-342900" algn="l">
              <a:buFont typeface="Arial" panose="020B0604020202020204" pitchFamily="34" charset="0"/>
              <a:buChar char="•"/>
            </a:pPr>
            <a:r>
              <a:rPr lang="pt-BR" sz="2800" dirty="0"/>
              <a:t>Todas as entregas serão realizadas pelo Blackboard, sendo as devolutivas aplicadas por esta ferramenta e também por e-mail.</a:t>
            </a:r>
          </a:p>
          <a:p>
            <a:pPr algn="l"/>
            <a:endParaRPr lang="pt-BR" sz="2000" dirty="0"/>
          </a:p>
          <a:p>
            <a:pPr algn="l"/>
            <a:endParaRPr lang="pt-BR" sz="2000" dirty="0"/>
          </a:p>
        </p:txBody>
      </p:sp>
      <p:pic>
        <p:nvPicPr>
          <p:cNvPr id="5" name="Imagem 4">
            <a:extLst>
              <a:ext uri="{FF2B5EF4-FFF2-40B4-BE49-F238E27FC236}">
                <a16:creationId xmlns:a16="http://schemas.microsoft.com/office/drawing/2014/main" id="{4AE3BD58-764C-4472-B40D-78780C57AE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411892"/>
            <a:ext cx="816742" cy="477794"/>
          </a:xfrm>
          <a:prstGeom prst="rect">
            <a:avLst/>
          </a:prstGeom>
        </p:spPr>
      </p:pic>
    </p:spTree>
    <p:extLst>
      <p:ext uri="{BB962C8B-B14F-4D97-AF65-F5344CB8AC3E}">
        <p14:creationId xmlns:p14="http://schemas.microsoft.com/office/powerpoint/2010/main" val="3494756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C1DCF-9466-30A8-CEFB-B2944F4E8F0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758725F-1DA1-D343-EE2F-D818767393CA}"/>
              </a:ext>
            </a:extLst>
          </p:cNvPr>
          <p:cNvSpPr>
            <a:spLocks noGrp="1"/>
          </p:cNvSpPr>
          <p:nvPr>
            <p:ph type="ctrTitle"/>
          </p:nvPr>
        </p:nvSpPr>
        <p:spPr>
          <a:xfrm>
            <a:off x="1351006" y="480306"/>
            <a:ext cx="9144000" cy="619256"/>
          </a:xfrm>
        </p:spPr>
        <p:txBody>
          <a:bodyPr>
            <a:noAutofit/>
          </a:bodyPr>
          <a:lstStyle/>
          <a:p>
            <a:r>
              <a:rPr lang="pt-BR" sz="3600" b="1" dirty="0">
                <a:solidFill>
                  <a:schemeClr val="accent1"/>
                </a:solidFill>
              </a:rPr>
              <a:t>Orientações Gerais</a:t>
            </a:r>
          </a:p>
        </p:txBody>
      </p:sp>
      <p:sp>
        <p:nvSpPr>
          <p:cNvPr id="3" name="Subtítulo 2">
            <a:extLst>
              <a:ext uri="{FF2B5EF4-FFF2-40B4-BE49-F238E27FC236}">
                <a16:creationId xmlns:a16="http://schemas.microsoft.com/office/drawing/2014/main" id="{EF57C6AE-F7C1-BAF1-F183-3161E8A905F9}"/>
              </a:ext>
            </a:extLst>
          </p:cNvPr>
          <p:cNvSpPr>
            <a:spLocks noGrp="1"/>
          </p:cNvSpPr>
          <p:nvPr>
            <p:ph type="subTitle" idx="1"/>
          </p:nvPr>
        </p:nvSpPr>
        <p:spPr>
          <a:xfrm>
            <a:off x="1193064" y="1537261"/>
            <a:ext cx="10291677" cy="4240084"/>
          </a:xfrm>
        </p:spPr>
        <p:txBody>
          <a:bodyPr>
            <a:normAutofit/>
          </a:bodyPr>
          <a:lstStyle/>
          <a:p>
            <a:pPr algn="l"/>
            <a:r>
              <a:rPr lang="pt-BR" sz="3200" dirty="0">
                <a:solidFill>
                  <a:schemeClr val="accent1"/>
                </a:solidFill>
              </a:rPr>
              <a:t>Datas das Entregas</a:t>
            </a:r>
          </a:p>
          <a:p>
            <a:pPr algn="l"/>
            <a:endParaRPr lang="pt-BR" sz="2000" dirty="0"/>
          </a:p>
          <a:p>
            <a:pPr marL="342900" indent="-342900" algn="l">
              <a:buFont typeface="Arial" panose="020B0604020202020204" pitchFamily="34" charset="0"/>
              <a:buChar char="•"/>
            </a:pPr>
            <a:r>
              <a:rPr lang="pt-BR" sz="2800" dirty="0"/>
              <a:t>Será publicado um documento com essas datas no </a:t>
            </a:r>
            <a:r>
              <a:rPr lang="pt-BR" sz="2800" dirty="0" err="1"/>
              <a:t>Blackboard</a:t>
            </a:r>
            <a:r>
              <a:rPr lang="pt-BR" sz="2800" dirty="0"/>
              <a:t>. </a:t>
            </a:r>
            <a:r>
              <a:rPr lang="pt-BR" sz="2800" b="1" dirty="0">
                <a:solidFill>
                  <a:srgbClr val="FF0000"/>
                </a:solidFill>
              </a:rPr>
              <a:t>SEMPRE CONSULTEM O BLACKBOARD (Ferramenta oficial)!</a:t>
            </a:r>
          </a:p>
          <a:p>
            <a:pPr marL="342900" indent="-342900" algn="l">
              <a:buFont typeface="Arial" panose="020B0604020202020204" pitchFamily="34" charset="0"/>
              <a:buChar char="•"/>
            </a:pPr>
            <a:r>
              <a:rPr lang="pt-BR" sz="2800" dirty="0"/>
              <a:t>Todas as entregas ocorrem ao final dos dias selecionados, </a:t>
            </a:r>
            <a:r>
              <a:rPr lang="pt-BR" sz="2800" b="1" dirty="0">
                <a:solidFill>
                  <a:srgbClr val="FF0000"/>
                </a:solidFill>
              </a:rPr>
              <a:t>sempre aos domingos</a:t>
            </a:r>
            <a:r>
              <a:rPr lang="pt-BR" sz="2800" dirty="0"/>
              <a:t>.</a:t>
            </a:r>
          </a:p>
          <a:p>
            <a:pPr algn="l"/>
            <a:endParaRPr lang="pt-BR" sz="2000" dirty="0"/>
          </a:p>
          <a:p>
            <a:pPr algn="l"/>
            <a:endParaRPr lang="pt-BR" sz="2000" dirty="0"/>
          </a:p>
        </p:txBody>
      </p:sp>
      <p:pic>
        <p:nvPicPr>
          <p:cNvPr id="5" name="Imagem 4">
            <a:extLst>
              <a:ext uri="{FF2B5EF4-FFF2-40B4-BE49-F238E27FC236}">
                <a16:creationId xmlns:a16="http://schemas.microsoft.com/office/drawing/2014/main" id="{34CD8BA4-7F1E-8D5E-9787-0800722877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411892"/>
            <a:ext cx="816742" cy="477794"/>
          </a:xfrm>
          <a:prstGeom prst="rect">
            <a:avLst/>
          </a:prstGeom>
        </p:spPr>
      </p:pic>
    </p:spTree>
    <p:extLst>
      <p:ext uri="{BB962C8B-B14F-4D97-AF65-F5344CB8AC3E}">
        <p14:creationId xmlns:p14="http://schemas.microsoft.com/office/powerpoint/2010/main" val="18653617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5C354D-E28C-4C97-BF61-FC84147AC32D}"/>
              </a:ext>
            </a:extLst>
          </p:cNvPr>
          <p:cNvSpPr>
            <a:spLocks noGrp="1"/>
          </p:cNvSpPr>
          <p:nvPr>
            <p:ph type="ctrTitle"/>
          </p:nvPr>
        </p:nvSpPr>
        <p:spPr>
          <a:xfrm>
            <a:off x="1351006" y="480306"/>
            <a:ext cx="9144000" cy="619256"/>
          </a:xfrm>
        </p:spPr>
        <p:txBody>
          <a:bodyPr>
            <a:noAutofit/>
          </a:bodyPr>
          <a:lstStyle/>
          <a:p>
            <a:r>
              <a:rPr lang="pt-BR" sz="3600" b="1" dirty="0">
                <a:solidFill>
                  <a:schemeClr val="accent1"/>
                </a:solidFill>
              </a:rPr>
              <a:t>Orientações Gerais</a:t>
            </a:r>
          </a:p>
        </p:txBody>
      </p:sp>
      <p:sp>
        <p:nvSpPr>
          <p:cNvPr id="3" name="Subtítulo 2">
            <a:extLst>
              <a:ext uri="{FF2B5EF4-FFF2-40B4-BE49-F238E27FC236}">
                <a16:creationId xmlns:a16="http://schemas.microsoft.com/office/drawing/2014/main" id="{E619E270-34D0-4C84-8AF9-2E7D7342E408}"/>
              </a:ext>
            </a:extLst>
          </p:cNvPr>
          <p:cNvSpPr>
            <a:spLocks noGrp="1"/>
          </p:cNvSpPr>
          <p:nvPr>
            <p:ph type="subTitle" idx="1"/>
          </p:nvPr>
        </p:nvSpPr>
        <p:spPr>
          <a:xfrm>
            <a:off x="1058593" y="1537261"/>
            <a:ext cx="10291677" cy="4908847"/>
          </a:xfrm>
        </p:spPr>
        <p:txBody>
          <a:bodyPr>
            <a:normAutofit/>
          </a:bodyPr>
          <a:lstStyle/>
          <a:p>
            <a:pPr algn="l"/>
            <a:r>
              <a:rPr lang="pt-BR" sz="3200" dirty="0">
                <a:solidFill>
                  <a:schemeClr val="accent1"/>
                </a:solidFill>
              </a:rPr>
              <a:t>Critérios avaliativos</a:t>
            </a:r>
          </a:p>
          <a:p>
            <a:pPr algn="l"/>
            <a:endParaRPr lang="pt-BR" sz="2000" dirty="0"/>
          </a:p>
          <a:p>
            <a:pPr marL="342900" indent="-342900" algn="l">
              <a:lnSpc>
                <a:spcPct val="110000"/>
              </a:lnSpc>
              <a:buFont typeface="Arial" panose="020B0604020202020204" pitchFamily="34" charset="0"/>
              <a:buChar char="•"/>
            </a:pPr>
            <a:r>
              <a:rPr lang="pt-BR" sz="3000" dirty="0"/>
              <a:t>Quanto à solução – </a:t>
            </a:r>
            <a:r>
              <a:rPr lang="pt-BR" sz="3000" b="1" dirty="0">
                <a:solidFill>
                  <a:srgbClr val="FF0000"/>
                </a:solidFill>
              </a:rPr>
              <a:t>COMPLETA</a:t>
            </a:r>
          </a:p>
          <a:p>
            <a:pPr marL="342900" indent="-342900" algn="l">
              <a:lnSpc>
                <a:spcPct val="110000"/>
              </a:lnSpc>
              <a:buFont typeface="Arial" panose="020B0604020202020204" pitchFamily="34" charset="0"/>
              <a:buChar char="•"/>
            </a:pPr>
            <a:r>
              <a:rPr lang="pt-BR" sz="3000" dirty="0"/>
              <a:t>Quanto aos recursos</a:t>
            </a:r>
          </a:p>
          <a:p>
            <a:pPr marL="342900" indent="-342900" algn="l">
              <a:lnSpc>
                <a:spcPct val="110000"/>
              </a:lnSpc>
              <a:buFont typeface="Arial" panose="020B0604020202020204" pitchFamily="34" charset="0"/>
              <a:buChar char="•"/>
            </a:pPr>
            <a:r>
              <a:rPr lang="pt-BR" sz="3000" dirty="0"/>
              <a:t>Quanto às funcionalidades</a:t>
            </a:r>
          </a:p>
          <a:p>
            <a:pPr marL="342900" indent="-342900" algn="l">
              <a:lnSpc>
                <a:spcPct val="110000"/>
              </a:lnSpc>
              <a:buFont typeface="Arial" panose="020B0604020202020204" pitchFamily="34" charset="0"/>
              <a:buChar char="•"/>
            </a:pPr>
            <a:r>
              <a:rPr lang="pt-BR" sz="3000" dirty="0"/>
              <a:t>Quanto a segurança</a:t>
            </a:r>
          </a:p>
          <a:p>
            <a:pPr marL="342900" indent="-342900" algn="l">
              <a:lnSpc>
                <a:spcPct val="110000"/>
              </a:lnSpc>
              <a:buFont typeface="Arial" panose="020B0604020202020204" pitchFamily="34" charset="0"/>
              <a:buChar char="•"/>
            </a:pPr>
            <a:r>
              <a:rPr lang="pt-BR" sz="3000" dirty="0"/>
              <a:t>Quanto a manutenção do sistema proposto</a:t>
            </a:r>
          </a:p>
          <a:p>
            <a:pPr marL="342900" indent="-342900" algn="l">
              <a:buFont typeface="Arial" panose="020B0604020202020204" pitchFamily="34" charset="0"/>
              <a:buChar char="•"/>
            </a:pPr>
            <a:endParaRPr lang="pt-BR" sz="2000" dirty="0"/>
          </a:p>
          <a:p>
            <a:pPr algn="l"/>
            <a:endParaRPr lang="pt-BR" sz="2000" dirty="0"/>
          </a:p>
          <a:p>
            <a:pPr algn="l"/>
            <a:endParaRPr lang="pt-BR" sz="2000" dirty="0"/>
          </a:p>
        </p:txBody>
      </p:sp>
      <p:pic>
        <p:nvPicPr>
          <p:cNvPr id="5" name="Imagem 4">
            <a:extLst>
              <a:ext uri="{FF2B5EF4-FFF2-40B4-BE49-F238E27FC236}">
                <a16:creationId xmlns:a16="http://schemas.microsoft.com/office/drawing/2014/main" id="{4AE3BD58-764C-4472-B40D-78780C57AE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411892"/>
            <a:ext cx="816742" cy="477794"/>
          </a:xfrm>
          <a:prstGeom prst="rect">
            <a:avLst/>
          </a:prstGeom>
        </p:spPr>
      </p:pic>
    </p:spTree>
    <p:extLst>
      <p:ext uri="{BB962C8B-B14F-4D97-AF65-F5344CB8AC3E}">
        <p14:creationId xmlns:p14="http://schemas.microsoft.com/office/powerpoint/2010/main" val="7377232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E619E270-34D0-4C84-8AF9-2E7D7342E408}"/>
              </a:ext>
            </a:extLst>
          </p:cNvPr>
          <p:cNvSpPr>
            <a:spLocks noGrp="1"/>
          </p:cNvSpPr>
          <p:nvPr>
            <p:ph type="subTitle" idx="1"/>
          </p:nvPr>
        </p:nvSpPr>
        <p:spPr>
          <a:xfrm>
            <a:off x="768588" y="411892"/>
            <a:ext cx="10959991" cy="6175520"/>
          </a:xfrm>
        </p:spPr>
        <p:txBody>
          <a:bodyPr>
            <a:normAutofit/>
          </a:bodyPr>
          <a:lstStyle/>
          <a:p>
            <a:pPr algn="l"/>
            <a:r>
              <a:rPr lang="pt-BR" sz="4700" dirty="0">
                <a:solidFill>
                  <a:schemeClr val="accent1"/>
                </a:solidFill>
              </a:rPr>
              <a:t>TCC1 – Composição da nota final</a:t>
            </a:r>
          </a:p>
          <a:p>
            <a:pPr algn="l"/>
            <a:endParaRPr lang="pt-BR" sz="3200" dirty="0">
              <a:solidFill>
                <a:schemeClr val="accent1"/>
              </a:solidFill>
            </a:endParaRPr>
          </a:p>
          <a:p>
            <a:pPr algn="l"/>
            <a:r>
              <a:rPr lang="pt-BR" dirty="0"/>
              <a:t>A avaliação pelo orientador será baseada no desempenho, compreendendo o conjunto dos textos elaborados pelo discente, a observância de prazos e horários, o atendimento às orientações do docente, a clareza, a concisão, a coerência, a articulação entre as partes que compõem o trabalho e a adequação da revisão de literatura.</a:t>
            </a:r>
          </a:p>
          <a:p>
            <a:pPr algn="l"/>
            <a:endParaRPr lang="pt-BR" dirty="0"/>
          </a:p>
          <a:p>
            <a:pPr algn="l"/>
            <a:r>
              <a:rPr lang="pt-BR" dirty="0"/>
              <a:t>No entanto, a avaliação do TCC I culmina após submissão à banca examinadora, salvo reformulações quando houver.</a:t>
            </a:r>
          </a:p>
        </p:txBody>
      </p:sp>
      <p:pic>
        <p:nvPicPr>
          <p:cNvPr id="5" name="Imagem 4">
            <a:extLst>
              <a:ext uri="{FF2B5EF4-FFF2-40B4-BE49-F238E27FC236}">
                <a16:creationId xmlns:a16="http://schemas.microsoft.com/office/drawing/2014/main" id="{4AE3BD58-764C-4472-B40D-78780C57AE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411892"/>
            <a:ext cx="816742" cy="477794"/>
          </a:xfrm>
          <a:prstGeom prst="rect">
            <a:avLst/>
          </a:prstGeom>
        </p:spPr>
      </p:pic>
    </p:spTree>
    <p:extLst>
      <p:ext uri="{BB962C8B-B14F-4D97-AF65-F5344CB8AC3E}">
        <p14:creationId xmlns:p14="http://schemas.microsoft.com/office/powerpoint/2010/main" val="1145659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E619E270-34D0-4C84-8AF9-2E7D7342E408}"/>
              </a:ext>
            </a:extLst>
          </p:cNvPr>
          <p:cNvSpPr>
            <a:spLocks noGrp="1"/>
          </p:cNvSpPr>
          <p:nvPr>
            <p:ph type="subTitle" idx="1"/>
          </p:nvPr>
        </p:nvSpPr>
        <p:spPr>
          <a:xfrm>
            <a:off x="768588" y="411892"/>
            <a:ext cx="10959991" cy="4980379"/>
          </a:xfrm>
        </p:spPr>
        <p:txBody>
          <a:bodyPr>
            <a:normAutofit/>
          </a:bodyPr>
          <a:lstStyle/>
          <a:p>
            <a:pPr algn="l"/>
            <a:r>
              <a:rPr lang="pt-BR" sz="4700" dirty="0">
                <a:solidFill>
                  <a:schemeClr val="accent1"/>
                </a:solidFill>
              </a:rPr>
              <a:t>TCC1 – Composição da nota final</a:t>
            </a:r>
          </a:p>
          <a:p>
            <a:pPr algn="l"/>
            <a:endParaRPr lang="pt-BR" sz="3200" dirty="0">
              <a:solidFill>
                <a:schemeClr val="accent1"/>
              </a:solidFill>
            </a:endParaRPr>
          </a:p>
          <a:p>
            <a:pPr algn="l"/>
            <a:r>
              <a:rPr lang="pt-BR" sz="2800" dirty="0"/>
              <a:t>No TCC I a nota da Banca é a nota da disciplina, que será registrada após a entrega dos artefatos, sendo: </a:t>
            </a:r>
          </a:p>
          <a:p>
            <a:pPr algn="l"/>
            <a:endParaRPr lang="pt-BR" sz="2800" dirty="0"/>
          </a:p>
          <a:p>
            <a:pPr marL="457200" indent="-457200" algn="l">
              <a:buFont typeface="Arial" panose="020B0604020202020204" pitchFamily="34" charset="0"/>
              <a:buChar char="•"/>
            </a:pPr>
            <a:r>
              <a:rPr lang="pt-BR" sz="2800" dirty="0"/>
              <a:t>Para alunos que optaram pelo desenvolvimento de um aplicativo: cópia digital da documentação final já corrigida e cópia da apresentação.</a:t>
            </a:r>
          </a:p>
        </p:txBody>
      </p:sp>
      <p:pic>
        <p:nvPicPr>
          <p:cNvPr id="5" name="Imagem 4">
            <a:extLst>
              <a:ext uri="{FF2B5EF4-FFF2-40B4-BE49-F238E27FC236}">
                <a16:creationId xmlns:a16="http://schemas.microsoft.com/office/drawing/2014/main" id="{4AE3BD58-764C-4472-B40D-78780C57AE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411892"/>
            <a:ext cx="816742" cy="477794"/>
          </a:xfrm>
          <a:prstGeom prst="rect">
            <a:avLst/>
          </a:prstGeom>
        </p:spPr>
      </p:pic>
    </p:spTree>
    <p:extLst>
      <p:ext uri="{BB962C8B-B14F-4D97-AF65-F5344CB8AC3E}">
        <p14:creationId xmlns:p14="http://schemas.microsoft.com/office/powerpoint/2010/main" val="2056314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E619E270-34D0-4C84-8AF9-2E7D7342E408}"/>
              </a:ext>
            </a:extLst>
          </p:cNvPr>
          <p:cNvSpPr>
            <a:spLocks noGrp="1"/>
          </p:cNvSpPr>
          <p:nvPr>
            <p:ph type="subTitle" idx="1"/>
          </p:nvPr>
        </p:nvSpPr>
        <p:spPr>
          <a:xfrm>
            <a:off x="768588" y="411892"/>
            <a:ext cx="10959991" cy="4711437"/>
          </a:xfrm>
        </p:spPr>
        <p:txBody>
          <a:bodyPr>
            <a:normAutofit/>
          </a:bodyPr>
          <a:lstStyle/>
          <a:p>
            <a:pPr algn="l"/>
            <a:r>
              <a:rPr lang="pt-BR" sz="4700" dirty="0">
                <a:solidFill>
                  <a:schemeClr val="accent1"/>
                </a:solidFill>
              </a:rPr>
              <a:t>TCC1 – Composição da nota final</a:t>
            </a:r>
          </a:p>
          <a:p>
            <a:pPr algn="l"/>
            <a:endParaRPr lang="pt-BR" sz="3200" dirty="0">
              <a:solidFill>
                <a:schemeClr val="accent1"/>
              </a:solidFill>
            </a:endParaRPr>
          </a:p>
          <a:p>
            <a:pPr algn="l"/>
            <a:r>
              <a:rPr lang="pt-BR" sz="2800" dirty="0"/>
              <a:t>Para alunos que escolheram escrever uma monografia:  cópia digital da documentação final já corrigida e cópia da apresentação.</a:t>
            </a:r>
          </a:p>
          <a:p>
            <a:pPr algn="l"/>
            <a:endParaRPr lang="pt-BR" sz="2800" dirty="0"/>
          </a:p>
          <a:p>
            <a:pPr algn="l"/>
            <a:r>
              <a:rPr lang="pt-BR" sz="2800" dirty="0"/>
              <a:t>O discente estará apto à apresentação junto à banca examinadora desde que tenha frequência mínima de 75%, e seu professor orientador aprovar a submissão.</a:t>
            </a:r>
          </a:p>
        </p:txBody>
      </p:sp>
      <p:pic>
        <p:nvPicPr>
          <p:cNvPr id="5" name="Imagem 4">
            <a:extLst>
              <a:ext uri="{FF2B5EF4-FFF2-40B4-BE49-F238E27FC236}">
                <a16:creationId xmlns:a16="http://schemas.microsoft.com/office/drawing/2014/main" id="{4AE3BD58-764C-4472-B40D-78780C57AE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411892"/>
            <a:ext cx="816742" cy="477794"/>
          </a:xfrm>
          <a:prstGeom prst="rect">
            <a:avLst/>
          </a:prstGeom>
        </p:spPr>
      </p:pic>
    </p:spTree>
    <p:extLst>
      <p:ext uri="{BB962C8B-B14F-4D97-AF65-F5344CB8AC3E}">
        <p14:creationId xmlns:p14="http://schemas.microsoft.com/office/powerpoint/2010/main" val="81552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5C354D-E28C-4C97-BF61-FC84147AC32D}"/>
              </a:ext>
            </a:extLst>
          </p:cNvPr>
          <p:cNvSpPr>
            <a:spLocks noGrp="1"/>
          </p:cNvSpPr>
          <p:nvPr>
            <p:ph type="ctrTitle"/>
          </p:nvPr>
        </p:nvSpPr>
        <p:spPr>
          <a:xfrm>
            <a:off x="1282931" y="548641"/>
            <a:ext cx="9144000" cy="477795"/>
          </a:xfrm>
        </p:spPr>
        <p:txBody>
          <a:bodyPr>
            <a:noAutofit/>
          </a:bodyPr>
          <a:lstStyle/>
          <a:p>
            <a:pPr algn="l"/>
            <a:r>
              <a:rPr lang="pt-BR" sz="3600" b="1" dirty="0">
                <a:solidFill>
                  <a:schemeClr val="accent1"/>
                </a:solidFill>
              </a:rPr>
              <a:t>Controle de presenças</a:t>
            </a:r>
          </a:p>
        </p:txBody>
      </p:sp>
      <p:sp>
        <p:nvSpPr>
          <p:cNvPr id="3" name="Subtítulo 2">
            <a:extLst>
              <a:ext uri="{FF2B5EF4-FFF2-40B4-BE49-F238E27FC236}">
                <a16:creationId xmlns:a16="http://schemas.microsoft.com/office/drawing/2014/main" id="{E619E270-34D0-4C84-8AF9-2E7D7342E408}"/>
              </a:ext>
            </a:extLst>
          </p:cNvPr>
          <p:cNvSpPr>
            <a:spLocks noGrp="1"/>
          </p:cNvSpPr>
          <p:nvPr>
            <p:ph type="subTitle" idx="1"/>
          </p:nvPr>
        </p:nvSpPr>
        <p:spPr>
          <a:xfrm>
            <a:off x="881150" y="1338052"/>
            <a:ext cx="10307782" cy="5062748"/>
          </a:xfrm>
        </p:spPr>
        <p:txBody>
          <a:bodyPr>
            <a:normAutofit/>
          </a:bodyPr>
          <a:lstStyle/>
          <a:p>
            <a:pPr algn="l"/>
            <a:endParaRPr lang="pt-BR" sz="3200" dirty="0">
              <a:solidFill>
                <a:schemeClr val="accent1"/>
              </a:solidFill>
            </a:endParaRPr>
          </a:p>
          <a:p>
            <a:pPr marL="742950" lvl="1" indent="-285750" algn="l">
              <a:buSzPts val="1000"/>
              <a:buFont typeface="Courier New" panose="02070309020205020404" pitchFamily="49" charset="0"/>
              <a:buChar char="o"/>
              <a:tabLst>
                <a:tab pos="914400" algn="l"/>
              </a:tabLst>
            </a:pPr>
            <a:r>
              <a:rPr lang="pt-BR" sz="2800" dirty="0">
                <a:solidFill>
                  <a:srgbClr val="000000"/>
                </a:solidFill>
                <a:latin typeface="Aptos" panose="020B0004020202020204" pitchFamily="34" charset="0"/>
                <a:ea typeface="Times New Roman" panose="02020603050405020304" pitchFamily="18" charset="0"/>
                <a:cs typeface="Times New Roman" panose="02020603050405020304" pitchFamily="18" charset="0"/>
              </a:rPr>
              <a:t>Todos os</a:t>
            </a:r>
            <a:r>
              <a:rPr lang="pt-BR" sz="280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 alunos devem ter 75% de frequência (25% legalmente ele pode faltar – A SABER)...</a:t>
            </a:r>
          </a:p>
          <a:p>
            <a:pPr marL="742950" lvl="1" indent="-285750" algn="l">
              <a:buSzPts val="1000"/>
              <a:buFont typeface="Courier New" panose="02070309020205020404" pitchFamily="49" charset="0"/>
              <a:buChar char="o"/>
              <a:tabLst>
                <a:tab pos="914400" algn="l"/>
              </a:tabLst>
            </a:pPr>
            <a:endParaRPr lang="pt-BR"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l">
              <a:buSzPts val="1000"/>
              <a:buFont typeface="Courier New" panose="02070309020205020404" pitchFamily="49" charset="0"/>
              <a:buChar char="o"/>
              <a:tabLst>
                <a:tab pos="914400" algn="l"/>
              </a:tabLst>
            </a:pPr>
            <a:r>
              <a:rPr lang="pt-BR" sz="2800" dirty="0">
                <a:solidFill>
                  <a:srgbClr val="000000"/>
                </a:solidFill>
                <a:latin typeface="Aptos" panose="020B0004020202020204" pitchFamily="34" charset="0"/>
                <a:ea typeface="Times New Roman" panose="02020603050405020304" pitchFamily="18" charset="0"/>
                <a:cs typeface="Times New Roman" panose="02020603050405020304" pitchFamily="18" charset="0"/>
              </a:rPr>
              <a:t>A</a:t>
            </a:r>
            <a:r>
              <a:rPr lang="pt-BR" sz="280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testados com menos de 15 dias não abonam faltas e, por isso, a legislação os resguarda garantindo-lhes 25% de ausências permitidas, para serem utilizadas nestas circunstâncias</a:t>
            </a:r>
            <a:endParaRPr lang="pt-BR"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m 4">
            <a:extLst>
              <a:ext uri="{FF2B5EF4-FFF2-40B4-BE49-F238E27FC236}">
                <a16:creationId xmlns:a16="http://schemas.microsoft.com/office/drawing/2014/main" id="{4AE3BD58-764C-4472-B40D-78780C57AE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411892"/>
            <a:ext cx="816742" cy="477794"/>
          </a:xfrm>
          <a:prstGeom prst="rect">
            <a:avLst/>
          </a:prstGeom>
        </p:spPr>
      </p:pic>
    </p:spTree>
    <p:extLst>
      <p:ext uri="{BB962C8B-B14F-4D97-AF65-F5344CB8AC3E}">
        <p14:creationId xmlns:p14="http://schemas.microsoft.com/office/powerpoint/2010/main" val="1650684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5C354D-E28C-4C97-BF61-FC84147AC32D}"/>
              </a:ext>
            </a:extLst>
          </p:cNvPr>
          <p:cNvSpPr>
            <a:spLocks noGrp="1"/>
          </p:cNvSpPr>
          <p:nvPr>
            <p:ph type="ctrTitle"/>
          </p:nvPr>
        </p:nvSpPr>
        <p:spPr>
          <a:xfrm>
            <a:off x="1282931" y="548641"/>
            <a:ext cx="9144000" cy="477795"/>
          </a:xfrm>
        </p:spPr>
        <p:txBody>
          <a:bodyPr>
            <a:noAutofit/>
          </a:bodyPr>
          <a:lstStyle/>
          <a:p>
            <a:pPr algn="l"/>
            <a:r>
              <a:rPr lang="pt-BR" sz="3600" b="1" dirty="0">
                <a:solidFill>
                  <a:schemeClr val="accent1"/>
                </a:solidFill>
              </a:rPr>
              <a:t>Frente de apoio</a:t>
            </a:r>
          </a:p>
        </p:txBody>
      </p:sp>
      <p:sp>
        <p:nvSpPr>
          <p:cNvPr id="3" name="Subtítulo 2">
            <a:extLst>
              <a:ext uri="{FF2B5EF4-FFF2-40B4-BE49-F238E27FC236}">
                <a16:creationId xmlns:a16="http://schemas.microsoft.com/office/drawing/2014/main" id="{E619E270-34D0-4C84-8AF9-2E7D7342E408}"/>
              </a:ext>
            </a:extLst>
          </p:cNvPr>
          <p:cNvSpPr>
            <a:spLocks noGrp="1"/>
          </p:cNvSpPr>
          <p:nvPr>
            <p:ph type="subTitle" idx="1"/>
          </p:nvPr>
        </p:nvSpPr>
        <p:spPr>
          <a:xfrm>
            <a:off x="881150" y="1338052"/>
            <a:ext cx="10307782" cy="5062748"/>
          </a:xfrm>
        </p:spPr>
        <p:txBody>
          <a:bodyPr>
            <a:normAutofit/>
          </a:bodyPr>
          <a:lstStyle/>
          <a:p>
            <a:pPr lvl="1" algn="l">
              <a:buSzPts val="1000"/>
              <a:tabLst>
                <a:tab pos="914400" algn="l"/>
              </a:tabLst>
            </a:pPr>
            <a:r>
              <a:rPr lang="pt-BR" sz="2800" dirty="0">
                <a:solidFill>
                  <a:srgbClr val="000000"/>
                </a:solidFill>
                <a:latin typeface="Aptos" panose="020B0004020202020204" pitchFamily="34" charset="0"/>
                <a:ea typeface="Times New Roman" panose="02020603050405020304" pitchFamily="18" charset="0"/>
                <a:cs typeface="Times New Roman" panose="02020603050405020304" pitchFamily="18" charset="0"/>
              </a:rPr>
              <a:t>Nesse semestre o apoio dos professores que nos ajudaram no semestre anterior continua, tendo inclusive aumentado. Teremos o auxílio dos professores:</a:t>
            </a:r>
          </a:p>
          <a:p>
            <a:pPr lvl="1" algn="l">
              <a:buSzPts val="1000"/>
              <a:tabLst>
                <a:tab pos="914400" algn="l"/>
              </a:tabLst>
            </a:pPr>
            <a:endParaRPr lang="pt-BR"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l">
              <a:buSzPts val="1000"/>
              <a:buFont typeface="Courier New" panose="02070309020205020404" pitchFamily="49" charset="0"/>
              <a:buChar char="o"/>
              <a:tabLst>
                <a:tab pos="914400" algn="l"/>
              </a:tabLst>
            </a:pPr>
            <a:r>
              <a:rPr lang="pt-BR" sz="280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Prof. </a:t>
            </a:r>
            <a:r>
              <a:rPr lang="pt-BR" sz="2800" dirty="0" err="1">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Atiê</a:t>
            </a:r>
            <a:r>
              <a:rPr lang="pt-BR" sz="280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 (ODSs);</a:t>
            </a:r>
          </a:p>
          <a:p>
            <a:pPr marL="742950" lvl="1" indent="-285750" algn="l">
              <a:buSzPts val="1000"/>
              <a:buFont typeface="Courier New" panose="02070309020205020404" pitchFamily="49" charset="0"/>
              <a:buChar char="o"/>
              <a:tabLst>
                <a:tab pos="914400" algn="l"/>
              </a:tabLst>
            </a:pPr>
            <a:r>
              <a:rPr lang="pt-BR" sz="2800" dirty="0">
                <a:solidFill>
                  <a:srgbClr val="000000"/>
                </a:solidFill>
                <a:latin typeface="Aptos" panose="020B0004020202020204" pitchFamily="34" charset="0"/>
                <a:ea typeface="Times New Roman" panose="02020603050405020304" pitchFamily="18" charset="0"/>
                <a:cs typeface="Times New Roman" panose="02020603050405020304" pitchFamily="18" charset="0"/>
              </a:rPr>
              <a:t>Profa. Karin (Questões jurídicas);</a:t>
            </a:r>
          </a:p>
          <a:p>
            <a:pPr marL="742950" lvl="1" indent="-285750" algn="l">
              <a:buSzPts val="1000"/>
              <a:buFont typeface="Courier New" panose="02070309020205020404" pitchFamily="49" charset="0"/>
              <a:buChar char="o"/>
              <a:tabLst>
                <a:tab pos="914400" algn="l"/>
              </a:tabLst>
            </a:pPr>
            <a:r>
              <a:rPr lang="pt-BR" sz="2800" dirty="0">
                <a:solidFill>
                  <a:srgbClr val="000000"/>
                </a:solidFill>
                <a:latin typeface="Aptos" panose="020B0004020202020204" pitchFamily="34" charset="0"/>
                <a:ea typeface="Times New Roman" panose="02020603050405020304" pitchFamily="18" charset="0"/>
                <a:cs typeface="Times New Roman" panose="02020603050405020304" pitchFamily="18" charset="0"/>
              </a:rPr>
              <a:t>Prof. Maurício Kubo (Orientador temático – Orientações de negócio);</a:t>
            </a:r>
          </a:p>
          <a:p>
            <a:pPr marL="742950" lvl="1" indent="-285750" algn="l">
              <a:buSzPts val="1000"/>
              <a:buFont typeface="Courier New" panose="02070309020205020404" pitchFamily="49" charset="0"/>
              <a:buChar char="o"/>
              <a:tabLst>
                <a:tab pos="914400" algn="l"/>
              </a:tabLst>
            </a:pPr>
            <a:r>
              <a:rPr lang="pt-BR" sz="2800" dirty="0">
                <a:solidFill>
                  <a:srgbClr val="000000"/>
                </a:solidFill>
                <a:latin typeface="Aptos" panose="020B0004020202020204" pitchFamily="34" charset="0"/>
                <a:ea typeface="Times New Roman" panose="02020603050405020304" pitchFamily="18" charset="0"/>
                <a:cs typeface="Times New Roman" panose="02020603050405020304" pitchFamily="18" charset="0"/>
              </a:rPr>
              <a:t>Prof. Heredia (Questões tecnológicas e de segurança);</a:t>
            </a:r>
          </a:p>
          <a:p>
            <a:pPr marL="742950" lvl="1" indent="-285750" algn="l">
              <a:buSzPts val="1000"/>
              <a:buFont typeface="Courier New" panose="02070309020205020404" pitchFamily="49" charset="0"/>
              <a:buChar char="o"/>
              <a:tabLst>
                <a:tab pos="914400" algn="l"/>
              </a:tabLst>
            </a:pPr>
            <a:r>
              <a:rPr lang="pt-BR" sz="2800" dirty="0">
                <a:solidFill>
                  <a:srgbClr val="000000"/>
                </a:solidFill>
                <a:latin typeface="Aptos" panose="020B0004020202020204" pitchFamily="34" charset="0"/>
                <a:ea typeface="Times New Roman" panose="02020603050405020304" pitchFamily="18" charset="0"/>
                <a:cs typeface="Times New Roman" panose="02020603050405020304" pitchFamily="18" charset="0"/>
              </a:rPr>
              <a:t>Prof. Martinele (Orientador metodológico)</a:t>
            </a:r>
          </a:p>
        </p:txBody>
      </p:sp>
      <p:pic>
        <p:nvPicPr>
          <p:cNvPr id="5" name="Imagem 4">
            <a:extLst>
              <a:ext uri="{FF2B5EF4-FFF2-40B4-BE49-F238E27FC236}">
                <a16:creationId xmlns:a16="http://schemas.microsoft.com/office/drawing/2014/main" id="{4AE3BD58-764C-4472-B40D-78780C57AE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411892"/>
            <a:ext cx="816742" cy="477794"/>
          </a:xfrm>
          <a:prstGeom prst="rect">
            <a:avLst/>
          </a:prstGeom>
        </p:spPr>
      </p:pic>
    </p:spTree>
    <p:extLst>
      <p:ext uri="{BB962C8B-B14F-4D97-AF65-F5344CB8AC3E}">
        <p14:creationId xmlns:p14="http://schemas.microsoft.com/office/powerpoint/2010/main" val="919366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5C354D-E28C-4C97-BF61-FC84147AC32D}"/>
              </a:ext>
            </a:extLst>
          </p:cNvPr>
          <p:cNvSpPr>
            <a:spLocks noGrp="1"/>
          </p:cNvSpPr>
          <p:nvPr>
            <p:ph type="ctrTitle"/>
          </p:nvPr>
        </p:nvSpPr>
        <p:spPr>
          <a:xfrm>
            <a:off x="1282931" y="548641"/>
            <a:ext cx="9144000" cy="477795"/>
          </a:xfrm>
        </p:spPr>
        <p:txBody>
          <a:bodyPr>
            <a:noAutofit/>
          </a:bodyPr>
          <a:lstStyle/>
          <a:p>
            <a:pPr algn="l"/>
            <a:r>
              <a:rPr lang="pt-BR" sz="3600" b="1" dirty="0">
                <a:solidFill>
                  <a:schemeClr val="accent1"/>
                </a:solidFill>
              </a:rPr>
              <a:t>Controle de plágio</a:t>
            </a:r>
          </a:p>
        </p:txBody>
      </p:sp>
      <p:sp>
        <p:nvSpPr>
          <p:cNvPr id="3" name="Subtítulo 2">
            <a:extLst>
              <a:ext uri="{FF2B5EF4-FFF2-40B4-BE49-F238E27FC236}">
                <a16:creationId xmlns:a16="http://schemas.microsoft.com/office/drawing/2014/main" id="{E619E270-34D0-4C84-8AF9-2E7D7342E408}"/>
              </a:ext>
            </a:extLst>
          </p:cNvPr>
          <p:cNvSpPr>
            <a:spLocks noGrp="1"/>
          </p:cNvSpPr>
          <p:nvPr>
            <p:ph type="subTitle" idx="1"/>
          </p:nvPr>
        </p:nvSpPr>
        <p:spPr>
          <a:xfrm>
            <a:off x="881150" y="1338052"/>
            <a:ext cx="10307782" cy="5062748"/>
          </a:xfrm>
        </p:spPr>
        <p:txBody>
          <a:bodyPr>
            <a:normAutofit/>
          </a:bodyPr>
          <a:lstStyle/>
          <a:p>
            <a:pPr marL="742950" lvl="1" indent="-285750" algn="l">
              <a:buSzPts val="1000"/>
              <a:buFont typeface="Courier New" panose="02070309020205020404" pitchFamily="49" charset="0"/>
              <a:buChar char="o"/>
              <a:tabLst>
                <a:tab pos="914400" algn="l"/>
              </a:tabLst>
            </a:pPr>
            <a:r>
              <a:rPr lang="pt-BR" sz="2800" dirty="0">
                <a:solidFill>
                  <a:srgbClr val="000000"/>
                </a:solidFill>
                <a:latin typeface="Aptos" panose="020B0004020202020204" pitchFamily="34" charset="0"/>
                <a:ea typeface="Times New Roman" panose="02020603050405020304" pitchFamily="18" charset="0"/>
                <a:cs typeface="Times New Roman" panose="02020603050405020304" pitchFamily="18" charset="0"/>
              </a:rPr>
              <a:t>O </a:t>
            </a:r>
            <a:r>
              <a:rPr lang="pt-BR" sz="280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que é plágio</a:t>
            </a:r>
            <a:r>
              <a:rPr lang="pt-BR" sz="2800" dirty="0">
                <a:solidFill>
                  <a:srgbClr val="000000"/>
                </a:solidFill>
                <a:latin typeface="Aptos" panose="020B0004020202020204" pitchFamily="34" charset="0"/>
                <a:ea typeface="Times New Roman" panose="02020603050405020304" pitchFamily="18" charset="0"/>
                <a:cs typeface="Times New Roman" panose="02020603050405020304" pitchFamily="18" charset="0"/>
              </a:rPr>
              <a:t>?</a:t>
            </a:r>
          </a:p>
          <a:p>
            <a:pPr lvl="1" algn="l">
              <a:buSzPts val="1000"/>
              <a:tabLst>
                <a:tab pos="914400" algn="l"/>
              </a:tabLst>
            </a:pPr>
            <a:endParaRPr lang="pt-BR"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l">
              <a:buSzPts val="1000"/>
              <a:buFont typeface="Courier New" panose="02070309020205020404" pitchFamily="49" charset="0"/>
              <a:buChar char="o"/>
              <a:tabLst>
                <a:tab pos="914400" algn="l"/>
              </a:tabLst>
            </a:pPr>
            <a:r>
              <a:rPr lang="pt-BR" sz="2800" dirty="0">
                <a:solidFill>
                  <a:srgbClr val="000000"/>
                </a:solidFill>
                <a:effectLst/>
                <a:latin typeface="Aptos" panose="020B0004020202020204" pitchFamily="34" charset="0"/>
                <a:ea typeface="Times New Roman" panose="02020603050405020304" pitchFamily="18" charset="0"/>
                <a:cs typeface="Times New Roman" panose="02020603050405020304" pitchFamily="18" charset="0"/>
              </a:rPr>
              <a:t>Plágio não tem prazo para ser descoberto e gera consequências.</a:t>
            </a:r>
            <a:endParaRPr lang="pt-BR" sz="2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m 4">
            <a:extLst>
              <a:ext uri="{FF2B5EF4-FFF2-40B4-BE49-F238E27FC236}">
                <a16:creationId xmlns:a16="http://schemas.microsoft.com/office/drawing/2014/main" id="{4AE3BD58-764C-4472-B40D-78780C57AE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411892"/>
            <a:ext cx="816742" cy="477794"/>
          </a:xfrm>
          <a:prstGeom prst="rect">
            <a:avLst/>
          </a:prstGeom>
        </p:spPr>
      </p:pic>
    </p:spTree>
    <p:extLst>
      <p:ext uri="{BB962C8B-B14F-4D97-AF65-F5344CB8AC3E}">
        <p14:creationId xmlns:p14="http://schemas.microsoft.com/office/powerpoint/2010/main" val="2512816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5C354D-E28C-4C97-BF61-FC84147AC32D}"/>
              </a:ext>
            </a:extLst>
          </p:cNvPr>
          <p:cNvSpPr>
            <a:spLocks noGrp="1"/>
          </p:cNvSpPr>
          <p:nvPr>
            <p:ph type="ctrTitle"/>
          </p:nvPr>
        </p:nvSpPr>
        <p:spPr>
          <a:xfrm>
            <a:off x="1282931" y="411893"/>
            <a:ext cx="9144000" cy="614544"/>
          </a:xfrm>
        </p:spPr>
        <p:txBody>
          <a:bodyPr>
            <a:noAutofit/>
          </a:bodyPr>
          <a:lstStyle/>
          <a:p>
            <a:r>
              <a:rPr lang="pt-BR" sz="3600" b="1" dirty="0">
                <a:solidFill>
                  <a:schemeClr val="accent1"/>
                </a:solidFill>
              </a:rPr>
              <a:t>Apresentação da disciplina</a:t>
            </a:r>
          </a:p>
        </p:txBody>
      </p:sp>
      <p:sp>
        <p:nvSpPr>
          <p:cNvPr id="3" name="Subtítulo 2">
            <a:extLst>
              <a:ext uri="{FF2B5EF4-FFF2-40B4-BE49-F238E27FC236}">
                <a16:creationId xmlns:a16="http://schemas.microsoft.com/office/drawing/2014/main" id="{E619E270-34D0-4C84-8AF9-2E7D7342E408}"/>
              </a:ext>
            </a:extLst>
          </p:cNvPr>
          <p:cNvSpPr>
            <a:spLocks noGrp="1"/>
          </p:cNvSpPr>
          <p:nvPr>
            <p:ph type="subTitle" idx="1"/>
          </p:nvPr>
        </p:nvSpPr>
        <p:spPr>
          <a:xfrm>
            <a:off x="881150" y="1338052"/>
            <a:ext cx="10307782" cy="5062748"/>
          </a:xfrm>
        </p:spPr>
        <p:txBody>
          <a:bodyPr>
            <a:normAutofit/>
          </a:bodyPr>
          <a:lstStyle/>
          <a:p>
            <a:pPr algn="l"/>
            <a:r>
              <a:rPr lang="pt-BR" sz="3200" dirty="0">
                <a:solidFill>
                  <a:schemeClr val="accent1"/>
                </a:solidFill>
              </a:rPr>
              <a:t>TCC1 – Ferramentas utilizadas (desenvolvimento e avaliações)</a:t>
            </a:r>
          </a:p>
          <a:p>
            <a:pPr algn="l"/>
            <a:endParaRPr lang="pt-BR" sz="3200" dirty="0">
              <a:solidFill>
                <a:schemeClr val="accent1"/>
              </a:solidFill>
            </a:endParaRPr>
          </a:p>
          <a:p>
            <a:pPr marL="342900" indent="-342900" algn="l">
              <a:lnSpc>
                <a:spcPct val="110000"/>
              </a:lnSpc>
              <a:spcAft>
                <a:spcPts val="1200"/>
              </a:spcAft>
              <a:buFont typeface="Wingdings" panose="05000000000000000000" pitchFamily="2" charset="2"/>
              <a:buChar char="Ø"/>
            </a:pPr>
            <a:r>
              <a:rPr lang="pt-BR" sz="2000" b="1" dirty="0">
                <a:solidFill>
                  <a:srgbClr val="0000FF"/>
                </a:solidFill>
              </a:rPr>
              <a:t>Pacote Office </a:t>
            </a:r>
            <a:r>
              <a:rPr lang="pt-BR" sz="2000" dirty="0"/>
              <a:t>– Desenvolvimento da documentação</a:t>
            </a:r>
            <a:endParaRPr lang="pt-BR" sz="1400" dirty="0"/>
          </a:p>
          <a:p>
            <a:pPr marL="342900" indent="-342900" algn="l">
              <a:lnSpc>
                <a:spcPct val="110000"/>
              </a:lnSpc>
              <a:spcAft>
                <a:spcPts val="1200"/>
              </a:spcAft>
              <a:buFont typeface="Wingdings" panose="05000000000000000000" pitchFamily="2" charset="2"/>
              <a:buChar char="Ø"/>
            </a:pPr>
            <a:r>
              <a:rPr lang="pt-BR" sz="2000" b="1" dirty="0">
                <a:solidFill>
                  <a:srgbClr val="00B050"/>
                </a:solidFill>
              </a:rPr>
              <a:t>Git e Github</a:t>
            </a:r>
            <a:r>
              <a:rPr lang="pt-BR" sz="2000" dirty="0"/>
              <a:t> – desenvolvimento de forma colaborativa (necessário)</a:t>
            </a:r>
            <a:endParaRPr lang="pt-BR" sz="1200" dirty="0"/>
          </a:p>
          <a:p>
            <a:pPr marL="342900" indent="-342900" algn="l">
              <a:lnSpc>
                <a:spcPct val="110000"/>
              </a:lnSpc>
              <a:spcAft>
                <a:spcPts val="1200"/>
              </a:spcAft>
              <a:buFont typeface="Wingdings" panose="05000000000000000000" pitchFamily="2" charset="2"/>
              <a:buChar char="Ø"/>
            </a:pPr>
            <a:r>
              <a:rPr lang="pt-BR" sz="2000" b="1" dirty="0"/>
              <a:t>Blackboard </a:t>
            </a:r>
            <a:r>
              <a:rPr lang="pt-BR" sz="2000" dirty="0"/>
              <a:t>(Material – acompanhamento da disciplina)</a:t>
            </a:r>
          </a:p>
          <a:p>
            <a:pPr marL="342900" indent="-342900" algn="l">
              <a:lnSpc>
                <a:spcPct val="110000"/>
              </a:lnSpc>
              <a:spcAft>
                <a:spcPts val="1200"/>
              </a:spcAft>
              <a:buFont typeface="Wingdings" panose="05000000000000000000" pitchFamily="2" charset="2"/>
              <a:buChar char="Ø"/>
            </a:pPr>
            <a:r>
              <a:rPr lang="pt-BR" sz="2000" b="1" dirty="0">
                <a:solidFill>
                  <a:srgbClr val="7030A0"/>
                </a:solidFill>
              </a:rPr>
              <a:t>Google </a:t>
            </a:r>
            <a:r>
              <a:rPr lang="pt-BR" sz="2000" b="1" dirty="0" err="1">
                <a:solidFill>
                  <a:srgbClr val="7030A0"/>
                </a:solidFill>
              </a:rPr>
              <a:t>docs</a:t>
            </a:r>
            <a:r>
              <a:rPr lang="pt-BR" sz="2000" b="1" dirty="0">
                <a:solidFill>
                  <a:srgbClr val="7030A0"/>
                </a:solidFill>
              </a:rPr>
              <a:t> </a:t>
            </a:r>
            <a:r>
              <a:rPr lang="pt-BR" sz="2000" dirty="0"/>
              <a:t>(</a:t>
            </a:r>
            <a:r>
              <a:rPr lang="pt-BR" sz="2000" dirty="0" err="1"/>
              <a:t>Forms</a:t>
            </a:r>
            <a:r>
              <a:rPr lang="pt-BR" sz="2000" dirty="0"/>
              <a:t> – para comunicações), SE NECESSÁRIO</a:t>
            </a:r>
          </a:p>
          <a:p>
            <a:pPr algn="l"/>
            <a:endParaRPr lang="pt-BR" sz="2000" dirty="0"/>
          </a:p>
          <a:p>
            <a:pPr algn="l"/>
            <a:endParaRPr lang="pt-BR" sz="2000" dirty="0"/>
          </a:p>
        </p:txBody>
      </p:sp>
      <p:pic>
        <p:nvPicPr>
          <p:cNvPr id="5" name="Imagem 4">
            <a:extLst>
              <a:ext uri="{FF2B5EF4-FFF2-40B4-BE49-F238E27FC236}">
                <a16:creationId xmlns:a16="http://schemas.microsoft.com/office/drawing/2014/main" id="{4AE3BD58-764C-4472-B40D-78780C57AE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411892"/>
            <a:ext cx="816742" cy="477794"/>
          </a:xfrm>
          <a:prstGeom prst="rect">
            <a:avLst/>
          </a:prstGeom>
        </p:spPr>
      </p:pic>
    </p:spTree>
    <p:extLst>
      <p:ext uri="{BB962C8B-B14F-4D97-AF65-F5344CB8AC3E}">
        <p14:creationId xmlns:p14="http://schemas.microsoft.com/office/powerpoint/2010/main" val="40139895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19B9A9-564C-AF81-F22D-64E576029B57}"/>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AA1779C-E4C9-D05E-C505-A67B7B0F101D}"/>
              </a:ext>
            </a:extLst>
          </p:cNvPr>
          <p:cNvSpPr>
            <a:spLocks noGrp="1"/>
          </p:cNvSpPr>
          <p:nvPr>
            <p:ph type="ctrTitle"/>
          </p:nvPr>
        </p:nvSpPr>
        <p:spPr>
          <a:xfrm>
            <a:off x="890338" y="640080"/>
            <a:ext cx="3734014" cy="1581912"/>
          </a:xfrm>
        </p:spPr>
        <p:txBody>
          <a:bodyPr anchor="b">
            <a:normAutofit/>
          </a:bodyPr>
          <a:lstStyle/>
          <a:p>
            <a:pPr algn="l"/>
            <a:r>
              <a:rPr lang="pt-BR" sz="5000" b="1" dirty="0"/>
              <a:t>Apresentação da disciplina</a:t>
            </a:r>
          </a:p>
        </p:txBody>
      </p:sp>
      <p:sp>
        <p:nvSpPr>
          <p:cNvPr id="3" name="Subtítulo 2">
            <a:extLst>
              <a:ext uri="{FF2B5EF4-FFF2-40B4-BE49-F238E27FC236}">
                <a16:creationId xmlns:a16="http://schemas.microsoft.com/office/drawing/2014/main" id="{0419ED74-A7FF-93B2-986C-23A30F0D0484}"/>
              </a:ext>
            </a:extLst>
          </p:cNvPr>
          <p:cNvSpPr>
            <a:spLocks noGrp="1"/>
          </p:cNvSpPr>
          <p:nvPr>
            <p:ph type="subTitle" idx="1"/>
          </p:nvPr>
        </p:nvSpPr>
        <p:spPr>
          <a:xfrm>
            <a:off x="669250" y="2642616"/>
            <a:ext cx="4923829" cy="1572768"/>
          </a:xfrm>
        </p:spPr>
        <p:txBody>
          <a:bodyPr>
            <a:normAutofit fontScale="92500"/>
          </a:bodyPr>
          <a:lstStyle/>
          <a:p>
            <a:pPr algn="l"/>
            <a:r>
              <a:rPr lang="pt-BR" sz="2200" dirty="0"/>
              <a:t>TCC1 – Definição dos grupos</a:t>
            </a:r>
          </a:p>
          <a:p>
            <a:pPr algn="l"/>
            <a:endParaRPr lang="pt-BR" sz="2200" dirty="0"/>
          </a:p>
          <a:p>
            <a:pPr algn="l"/>
            <a:r>
              <a:rPr lang="pt-BR" sz="2200" dirty="0"/>
              <a:t>Link </a:t>
            </a:r>
            <a:r>
              <a:rPr lang="pt-BR" sz="2200" dirty="0">
                <a:sym typeface="Wingdings" panose="05000000000000000000" pitchFamily="2" charset="2"/>
              </a:rPr>
              <a:t> </a:t>
            </a:r>
            <a:r>
              <a:rPr lang="pt-BR" sz="3600" dirty="0">
                <a:sym typeface="Wingdings" panose="05000000000000000000" pitchFamily="2" charset="2"/>
                <a:hlinkClick r:id="rId2"/>
              </a:rPr>
              <a:t>https://bit.ly/4kiXQta</a:t>
            </a:r>
            <a:endParaRPr lang="pt-BR" sz="3600" dirty="0">
              <a:sym typeface="Wingdings" panose="05000000000000000000" pitchFamily="2" charset="2"/>
            </a:endParaRPr>
          </a:p>
          <a:p>
            <a:pPr algn="l"/>
            <a:endParaRPr lang="pt-BR" sz="2200" dirty="0"/>
          </a:p>
          <a:p>
            <a:pPr algn="l"/>
            <a:endParaRPr lang="pt-BR" sz="2200" dirty="0"/>
          </a:p>
        </p:txBody>
      </p:sp>
      <p:sp>
        <p:nvSpPr>
          <p:cNvPr id="13"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m 4">
            <a:extLst>
              <a:ext uri="{FF2B5EF4-FFF2-40B4-BE49-F238E27FC236}">
                <a16:creationId xmlns:a16="http://schemas.microsoft.com/office/drawing/2014/main" id="{8B056B09-340B-4808-A849-7C26002A82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8000" y="411892"/>
            <a:ext cx="816742" cy="477794"/>
          </a:xfrm>
          <a:prstGeom prst="rect">
            <a:avLst/>
          </a:prstGeom>
        </p:spPr>
      </p:pic>
      <p:pic>
        <p:nvPicPr>
          <p:cNvPr id="7" name="Imagem 6" descr="Código QR&#10;&#10;O conteúdo gerado por IA pode estar incorreto.">
            <a:extLst>
              <a:ext uri="{FF2B5EF4-FFF2-40B4-BE49-F238E27FC236}">
                <a16:creationId xmlns:a16="http://schemas.microsoft.com/office/drawing/2014/main" id="{C9F873EF-9C4E-8983-7808-52956F07F02B}"/>
              </a:ext>
            </a:extLst>
          </p:cNvPr>
          <p:cNvPicPr>
            <a:picLocks noChangeAspect="1"/>
          </p:cNvPicPr>
          <p:nvPr/>
        </p:nvPicPr>
        <p:blipFill>
          <a:blip r:embed="rId4"/>
          <a:stretch>
            <a:fillRect/>
          </a:stretch>
        </p:blipFill>
        <p:spPr>
          <a:xfrm>
            <a:off x="6239495" y="1301578"/>
            <a:ext cx="4750816" cy="4750816"/>
          </a:xfrm>
          <a:prstGeom prst="rect">
            <a:avLst/>
          </a:prstGeom>
        </p:spPr>
      </p:pic>
    </p:spTree>
    <p:extLst>
      <p:ext uri="{BB962C8B-B14F-4D97-AF65-F5344CB8AC3E}">
        <p14:creationId xmlns:p14="http://schemas.microsoft.com/office/powerpoint/2010/main" val="22376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5C354D-E28C-4C97-BF61-FC84147AC32D}"/>
              </a:ext>
            </a:extLst>
          </p:cNvPr>
          <p:cNvSpPr>
            <a:spLocks noGrp="1"/>
          </p:cNvSpPr>
          <p:nvPr>
            <p:ph type="ctrTitle"/>
          </p:nvPr>
        </p:nvSpPr>
        <p:spPr>
          <a:xfrm>
            <a:off x="1282931" y="411893"/>
            <a:ext cx="9144000" cy="614544"/>
          </a:xfrm>
        </p:spPr>
        <p:txBody>
          <a:bodyPr>
            <a:noAutofit/>
          </a:bodyPr>
          <a:lstStyle/>
          <a:p>
            <a:r>
              <a:rPr lang="pt-BR" sz="3600" b="1" dirty="0">
                <a:solidFill>
                  <a:schemeClr val="accent1"/>
                </a:solidFill>
              </a:rPr>
              <a:t>TCC I – Contato com o professor</a:t>
            </a:r>
          </a:p>
        </p:txBody>
      </p:sp>
      <p:sp>
        <p:nvSpPr>
          <p:cNvPr id="3" name="Subtítulo 2">
            <a:extLst>
              <a:ext uri="{FF2B5EF4-FFF2-40B4-BE49-F238E27FC236}">
                <a16:creationId xmlns:a16="http://schemas.microsoft.com/office/drawing/2014/main" id="{E619E270-34D0-4C84-8AF9-2E7D7342E408}"/>
              </a:ext>
            </a:extLst>
          </p:cNvPr>
          <p:cNvSpPr>
            <a:spLocks noGrp="1"/>
          </p:cNvSpPr>
          <p:nvPr>
            <p:ph type="subTitle" idx="1"/>
          </p:nvPr>
        </p:nvSpPr>
        <p:spPr>
          <a:xfrm>
            <a:off x="881150" y="1338052"/>
            <a:ext cx="10307782" cy="5062748"/>
          </a:xfrm>
        </p:spPr>
        <p:txBody>
          <a:bodyPr>
            <a:normAutofit/>
          </a:bodyPr>
          <a:lstStyle/>
          <a:p>
            <a:pPr algn="l"/>
            <a:r>
              <a:rPr lang="pt-BR" sz="3200" dirty="0">
                <a:solidFill>
                  <a:schemeClr val="accent1"/>
                </a:solidFill>
              </a:rPr>
              <a:t>TCC I – Contato</a:t>
            </a:r>
          </a:p>
          <a:p>
            <a:pPr algn="l"/>
            <a:endParaRPr lang="pt-BR" sz="3200" dirty="0">
              <a:solidFill>
                <a:schemeClr val="accent1"/>
              </a:solidFill>
            </a:endParaRPr>
          </a:p>
          <a:p>
            <a:pPr algn="l"/>
            <a:endParaRPr lang="pt-BR" sz="2000" dirty="0"/>
          </a:p>
          <a:p>
            <a:r>
              <a:rPr lang="pt-BR" sz="6600" b="1" dirty="0">
                <a:solidFill>
                  <a:srgbClr val="0000FF"/>
                </a:solidFill>
              </a:rPr>
              <a:t>jose.masilva@sp.senac.br</a:t>
            </a:r>
          </a:p>
        </p:txBody>
      </p:sp>
      <p:pic>
        <p:nvPicPr>
          <p:cNvPr id="5" name="Imagem 4">
            <a:extLst>
              <a:ext uri="{FF2B5EF4-FFF2-40B4-BE49-F238E27FC236}">
                <a16:creationId xmlns:a16="http://schemas.microsoft.com/office/drawing/2014/main" id="{4AE3BD58-764C-4472-B40D-78780C57AE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411892"/>
            <a:ext cx="816742" cy="477794"/>
          </a:xfrm>
          <a:prstGeom prst="rect">
            <a:avLst/>
          </a:prstGeom>
        </p:spPr>
      </p:pic>
    </p:spTree>
    <p:extLst>
      <p:ext uri="{BB962C8B-B14F-4D97-AF65-F5344CB8AC3E}">
        <p14:creationId xmlns:p14="http://schemas.microsoft.com/office/powerpoint/2010/main" val="1488734482"/>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816</TotalTime>
  <Words>909</Words>
  <Application>Microsoft Office PowerPoint</Application>
  <PresentationFormat>Widescreen</PresentationFormat>
  <Paragraphs>111</Paragraphs>
  <Slides>17</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17</vt:i4>
      </vt:variant>
    </vt:vector>
  </HeadingPairs>
  <TitlesOfParts>
    <vt:vector size="24" baseType="lpstr">
      <vt:lpstr>Aptos</vt:lpstr>
      <vt:lpstr>Arial</vt:lpstr>
      <vt:lpstr>Calibri</vt:lpstr>
      <vt:lpstr>Calibri Light</vt:lpstr>
      <vt:lpstr>Courier New</vt:lpstr>
      <vt:lpstr>Wingdings</vt:lpstr>
      <vt:lpstr>Tema do Office</vt:lpstr>
      <vt:lpstr>Apresentação</vt:lpstr>
      <vt:lpstr>TCC I - Agenda</vt:lpstr>
      <vt:lpstr>Orientações Gerais</vt:lpstr>
      <vt:lpstr>Apresentação da disciplina</vt:lpstr>
      <vt:lpstr>Apresentação da disciplina</vt:lpstr>
      <vt:lpstr>Orientações Gerais</vt:lpstr>
      <vt:lpstr>Orientações Gerais</vt:lpstr>
      <vt:lpstr>Orientações Gerais</vt:lpstr>
      <vt:lpstr>Apresentação do PowerPoint</vt:lpstr>
      <vt:lpstr>Apresentação do PowerPoint</vt:lpstr>
      <vt:lpstr>Apresentação do PowerPoint</vt:lpstr>
      <vt:lpstr>Controle de presenças</vt:lpstr>
      <vt:lpstr>Frente de apoio</vt:lpstr>
      <vt:lpstr>Controle de plágio</vt:lpstr>
      <vt:lpstr>Apresentação da disciplina</vt:lpstr>
      <vt:lpstr>Apresentação da disciplina</vt:lpstr>
      <vt:lpstr>TCC I – Contato com o professor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dc:title>
  <dc:creator>J Martinele</dc:creator>
  <cp:lastModifiedBy>JOSE MARTINELE ALVES SILVA</cp:lastModifiedBy>
  <cp:revision>49</cp:revision>
  <dcterms:created xsi:type="dcterms:W3CDTF">2022-03-15T13:26:55Z</dcterms:created>
  <dcterms:modified xsi:type="dcterms:W3CDTF">2026-02-13T22:26:54Z</dcterms:modified>
</cp:coreProperties>
</file>